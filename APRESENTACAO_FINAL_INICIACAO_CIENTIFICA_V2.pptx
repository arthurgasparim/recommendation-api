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sldIdLst>
    <p:sldId id="256" r:id="rId4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16x9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2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2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2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2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2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itchFamily="2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itchFamily="2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itchFamily="2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itchFamily="2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73" autoAdjust="0"/>
    <p:restoredTop sz="94622" autoAdjust="0"/>
  </p:normalViewPr>
  <p:slideViewPr>
    <p:cSldViewPr>
      <p:cViewPr>
        <p:scale>
          <a:sx n="102" d="100"/>
          <a:sy n="102" d="100"/>
        </p:scale>
        <p:origin x="-234" y="-5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20 segundos. Apresente o título, seu nome e o orientador. Antecipe que o trabalho integra recomendação, observabilidade e experimentação controlada.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50 segundos. Explique que um recomendador pode continuar respondendo normalmente e, ainda assim, produzir listas piores. O problema científico é tornar essa degradação visível e acionável.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50 segundos. Leia a pergunta de pesquisa e resuma os três verbos do trabalho: recomendar, observar e comparar. Reforce que a contribuição é tanto técnica quanto experimental.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segundos. Defina os três pilares e percorra o fluxo da esquerda para a direita. Destaque a distinção central: instrumentação é passiva; o ganho de qualidade ocorre pela ação corretiva orientada pelos sinais.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65 segundos. Não leia todas as definições. Explique NDCG, p95 e qualidade dos dados e use as demais como referência. O ponto central é que relevância, dados e operação são dimensões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65 segundos. Explique cada técnica em uma frase. Mostre que conteúdo teve o maior NDCG inicial, item-item a maior cobertura e popularidade funcionou como baseline 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50 segundos. Apresente o volume efetivamente carregado após consolidação. Explique rapidamente o pipeline e cite que a descoberta de duplicatas no dataset levou a uma correção validada por teste de regressão.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60 segundos. Percorra a requisição do usuário ao banco. Mostre que o recomendador é reconstruído por revisão e que Prometheus coleta métricas da API. Cite execução local com Docker e implantação reproduzível em Kubernetes/EKS.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45 segundos. Mostre a tela real e destaque que o usuário pode navegar pelo catálogo, avaliar livros e solicitar recomendações. Cite que autorização administrativa saiu do frontend e passou a ser validada no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segundos. Apresente os testes e a escala dos dados. Reforce que o mesmo fluxo pode ser executado localmente e na AWS, e que a saída XLSX registra tanto qualidade quanto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60 segundos. Mostre que a comparação é pareada. O banco real origina um snapshot, mas cada ataque atua somente sobre uma cópia controlada. Isso torna o experimento repetível e seguro.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65 segundos. Percorra a grade sem detalhar os resultados; os próximos slides fazem isso. Reforce que ataques de infraestrutura não precisam reduzir NDCG, e ataques ao alvo exigem métricas específicas de exposição.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60 segundos. Leia a tabela linha a linha: popularidade, conteúdo e item-item mantiveram NDCG. Explique que isso não prova ausência do ataque; mostra a necessidade de medir exposição e posição do 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60 segundos. Explique o aparente paradoxo da média: o livro-alvo recebe 1, mas os fillers recebem 5. A tabela mostra que o NDCG da coorte não capturou a supressão do 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65 segundos. Mostre o score de dados e depois leia a tabela: conteúdo caiu e recuperou; popularidade já estava em zero; item-item oscilou para cima, o que não deve ser interpretado como benefício da corrupção.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65 segundos. A tabela deixa clara a sensibilidade de cada modelo: popularidade não mudou porque já estava no piso; conteúdo sofreu perda parcial; item-item zerou. O rollback restaurou os dois modelos personalizados.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70 segundos. Explique p95 como cauda de latência. A defesa melhorou o cenário, mas não voltou ao baseline; por isso o resultado é parcial. O NDCG inalterado é esperado porque a lista continua igual, apenas mais lenta.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70 segundos. Leia a disponibilidade, depois a tabela de NDCG. Popularidade permanece zero; conteúdo e item-item perdem personalização quando o fallback assume. Este slide explicita o trade-off entre operação e relevância.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65 segundos. Conteúdo teve maior NDCG inicial e item-item maior cobertura. Mostre a contagem de quedas, empates e uma melhora isolada. Explique que nem todo ataque deve reduzir NDCG e que uma oscilação positiva não torna dados corrompidos desejáveis.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55 segundos. Este slide responde diretamente à pergunta de pesquisa. Destaque que a observabilidade teve benefícios diferentes: recuperação completa, parcial, operacional ou apenas diagnóstica.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60 segundos. Feche com as três entregas: sistema, experimento e conclusão científica. Os próximos refinamentos não anulam os resultados; aumentam a capacidade explicativa e a validade estatística.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10 segundos. Agradeça e abra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989856" y="1653648"/>
            <a:ext cx="7164288" cy="1836204"/>
          </a:xfrm>
          <a:prstGeom prst="rect">
            <a:avLst/>
          </a:prstGeom>
          <a:noFill/>
          <a:ln>
            <a:noFill/>
          </a:ln>
          <a:effectLst>
            <a:reflection stA="0" endPos="65000" dist="50800" dir="5400000" sy="-100000" algn="bl" rotWithShape="0"/>
          </a:effectLst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bg1">
                    <a:alpha val="9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smtClean="0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883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88376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29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2616771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1491630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10882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288376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88376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972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52477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52477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2538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89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656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393231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 pitchFamily="34" charset="0"/>
                <a:cs typeface="Arial" pitchFamily="34" charset="0"/>
              </a:defRPr>
            </a:lvl1pPr>
            <a:lvl2pPr>
              <a:defRPr sz="28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000">
                <a:latin typeface="Arial" pitchFamily="34" charset="0"/>
                <a:cs typeface="Arial" pitchFamily="34" charset="0"/>
              </a:defRPr>
            </a:lvl4pPr>
            <a:lvl5pPr>
              <a:defRPr sz="20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327"/>
            <a:ext cx="3008313" cy="31516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8557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2744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918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 smtClean="0"/>
              <a:t>Clique para editar o estilo do subtítulo mestre</a:t>
            </a:r>
            <a:endParaRPr lang="pt-BR" dirty="0"/>
          </a:p>
        </p:txBody>
      </p:sp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178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36578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65-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65-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65-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65-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65-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65-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65-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65-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sz="3100" b="1">
                <a:solidFill>
                  <a:srgbClr val="FFFFFF"/>
                </a:solidFill>
                <a:latin typeface="Aptos Display"/>
              </a:rPr>
              <a:t>Monitoramento de Qualidade dos Dados para</a:t>
            </a:r>
          </a:p>
          <a:p>
            <a:pPr algn="ctr"/>
            <a:r>
              <a:rPr sz="3100" b="1">
                <a:solidFill>
                  <a:srgbClr val="FFFFFF"/>
                </a:solidFill>
                <a:latin typeface="Aptos Display"/>
              </a:rPr>
              <a:t>Personalização de Recomendação de Produtos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904487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1BD00"/>
                </a:solidFill>
                <a:latin typeface="Aptos"/>
              </a:rPr>
              <a:t>Arthur Guarizi Gasparim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187952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Aptos"/>
              </a:rPr>
              <a:t>Orientador: Prof. Dr. Mário Augusto Pazoti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Por que observar sistemas de recomendação?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124712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900" b="0">
                <a:solidFill>
                  <a:srgbClr val="172433"/>
                </a:solidFill>
                <a:latin typeface="Aptos"/>
              </a:rPr>
              <a:t>A qualidade da recomendação depende diretamente da </a:t>
            </a:r>
            <a:r>
              <a:rPr sz="1900" b="1">
                <a:solidFill>
                  <a:srgbClr val="006633"/>
                </a:solidFill>
                <a:latin typeface="Aptos"/>
              </a:rPr>
              <a:t>qualidade dos dados</a:t>
            </a:r>
            <a:r>
              <a:rPr sz="1900" b="0">
                <a:solidFill>
                  <a:srgbClr val="172433"/>
                </a:solidFill>
                <a:latin typeface="Aptos"/>
              </a:rPr>
              <a:t> e da confiabilidade do sistema que os processa.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19072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4944" y="1901952"/>
            <a:ext cx="384048" cy="384048"/>
          </a:xfrm>
          <a:prstGeom prst="ellipse">
            <a:avLst/>
          </a:prstGeom>
          <a:solidFill>
            <a:srgbClr val="F4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1" y="1874519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2433"/>
                </a:solidFill>
                <a:latin typeface="Aptos"/>
              </a:rPr>
              <a:t>Dados incorretos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9152"/>
            <a:ext cx="2148840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707D84"/>
                </a:solidFill>
                <a:latin typeface="Aptos"/>
              </a:rPr>
              <a:t>Duplicatas, ausências e valores fora do domínio distorcem perfis e rankings.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719072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83864" y="1901952"/>
            <a:ext cx="384048" cy="384048"/>
          </a:xfrm>
          <a:prstGeom prst="ellipse">
            <a:avLst/>
          </a:prstGeom>
          <a:solidFill>
            <a:srgbClr val="F4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874519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2433"/>
                </a:solidFill>
                <a:latin typeface="Aptos"/>
              </a:rPr>
              <a:t>Manipulação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359152"/>
            <a:ext cx="2148840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707D84"/>
                </a:solidFill>
                <a:latin typeface="Aptos"/>
              </a:rPr>
              <a:t>Avaliações artificiais podem promover ou prejudicar itens e reduzir a confiança.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1719072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72783" y="1901952"/>
            <a:ext cx="384048" cy="38404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1874519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2433"/>
                </a:solidFill>
                <a:latin typeface="Aptos"/>
              </a:rPr>
              <a:t>Falhas distribuídas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359152"/>
            <a:ext cx="2148840" cy="6949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707D84"/>
                </a:solidFill>
                <a:latin typeface="Aptos"/>
              </a:rPr>
              <a:t>Latência e indisponibilidade dificultam localizar a causa apenas pela interface.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84448"/>
            <a:ext cx="7827264" cy="548640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ED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49039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6633"/>
                </a:solidFill>
                <a:latin typeface="Aptos"/>
              </a:rPr>
              <a:t>DEGRADAÇÃO SILENCIOSA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67588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730752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72433"/>
                </a:solidFill>
                <a:latin typeface="Aptos"/>
              </a:rPr>
              <a:t>recomendações menos relevantes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367588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373075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72433"/>
                </a:solidFill>
                <a:latin typeface="Aptos"/>
              </a:rPr>
              <a:t>piora da experiência e da confiança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Objetivo e pergunta de pesquisa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170432"/>
            <a:ext cx="7818120" cy="932688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91B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6633"/>
                </a:solidFill>
                <a:latin typeface="Aptos"/>
              </a:rPr>
              <a:t>PERGUNTA DE PESQUISA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280160"/>
            <a:ext cx="58064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4A2A"/>
                </a:solidFill>
                <a:latin typeface="Aptos"/>
              </a:rPr>
              <a:t>Como a observabilidade e o monitoramento da qualidade dos dados auxiliam na detecção de falhas e preservam a qualidade de sistemas de recomendação?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95728"/>
            <a:ext cx="240487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587752"/>
            <a:ext cx="1060704" cy="256032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ED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06633"/>
                </a:solidFill>
                <a:latin typeface="Aptos"/>
              </a:rPr>
              <a:t>RECOMENDAR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80944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4454F"/>
                </a:solidFill>
                <a:latin typeface="Aptos"/>
              </a:rPr>
              <a:t>Construir um sistema funcional com conteúdo e filtragem colaborativa.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2395728"/>
            <a:ext cx="240487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3864" y="2587752"/>
            <a:ext cx="1060704" cy="256032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44299"/>
                </a:solidFill>
                <a:latin typeface="Aptos"/>
              </a:rPr>
              <a:t>OBSERVAR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980944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4454F"/>
                </a:solidFill>
                <a:latin typeface="Aptos"/>
              </a:rPr>
              <a:t>Coletar sinais de aplicação, dados e infraestrutura para explicar degradações.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0176" y="2395728"/>
            <a:ext cx="240487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4768" y="2587752"/>
            <a:ext cx="1060704" cy="256032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ED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7B61FF"/>
                </a:solidFill>
                <a:latin typeface="Aptos"/>
              </a:rPr>
              <a:t>COMPARAR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980944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4454F"/>
                </a:solidFill>
                <a:latin typeface="Aptos"/>
              </a:rPr>
              <a:t>Simular falhas no tempo e contrastar operação sem defesa e com resposta observável.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91363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6633"/>
                </a:solidFill>
                <a:latin typeface="Aptos"/>
              </a:rPr>
              <a:t>Contribuição esperada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886200"/>
            <a:ext cx="59893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2433"/>
                </a:solidFill>
                <a:latin typeface="Aptos"/>
              </a:rPr>
              <a:t>Um ambiente reproduzível para estudar qualidade, resiliência e custo da observabilidade em recomendadores.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OBSERVABILIDADE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Do sinal à recuperação da qualidade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23444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44752"/>
            <a:ext cx="457200" cy="45720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44475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72433"/>
                </a:solidFill>
                <a:latin typeface="Aptos"/>
              </a:rPr>
              <a:t>Métricas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56816"/>
            <a:ext cx="20299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07D84"/>
                </a:solidFill>
                <a:latin typeface="Aptos"/>
              </a:rPr>
              <a:t>Tendências, SLOs, latência, erros e qualidade dos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23444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444752"/>
            <a:ext cx="457200" cy="457200"/>
          </a:xfrm>
          <a:prstGeom prst="ellipse">
            <a:avLst/>
          </a:prstGeom>
          <a:solidFill>
            <a:srgbClr val="04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5656" y="144475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72433"/>
                </a:solidFill>
                <a:latin typeface="Aptos"/>
              </a:rPr>
              <a:t>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956816"/>
            <a:ext cx="20299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07D84"/>
                </a:solidFill>
                <a:latin typeface="Aptos"/>
              </a:rPr>
              <a:t>Contexto detalhado de eventos, versões e causas prováveis.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23444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0" y="1444752"/>
            <a:ext cx="457200" cy="4572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1444752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72433"/>
                </a:solidFill>
                <a:latin typeface="Aptos"/>
              </a:rPr>
              <a:t>Tracing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956816"/>
            <a:ext cx="20299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07D84"/>
                </a:solidFill>
                <a:latin typeface="Aptos"/>
              </a:rPr>
              <a:t>Caminho da requisição entre API, banco e inferência.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" y="3063240"/>
            <a:ext cx="1444752" cy="713232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200400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6633"/>
                </a:solidFill>
                <a:latin typeface="Aptos"/>
              </a:rPr>
              <a:t>SINAL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456432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mudança medida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324612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76272" y="3063240"/>
            <a:ext cx="1444752" cy="713232"/>
          </a:xfrm>
          <a:prstGeom prst="round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9424" y="3200400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2433"/>
                </a:solidFill>
                <a:latin typeface="Aptos"/>
              </a:rPr>
              <a:t>DETECÇÃO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9424" y="3456432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alerta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324612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58768" y="3063240"/>
            <a:ext cx="1444752" cy="713232"/>
          </a:xfrm>
          <a:prstGeom prst="round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200400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2433"/>
                </a:solidFill>
                <a:latin typeface="Aptos"/>
              </a:rPr>
              <a:t>DIAGNÓSTICO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456432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causa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24612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41264" y="3063240"/>
            <a:ext cx="1444752" cy="713232"/>
          </a:xfrm>
          <a:prstGeom prst="round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14416" y="3200400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2433"/>
                </a:solidFill>
                <a:latin typeface="Aptos"/>
              </a:rPr>
              <a:t>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3456432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bloqueio / rollback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3246120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3063240"/>
            <a:ext cx="1444752" cy="713232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96912" y="3200400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6633"/>
                </a:solidFill>
                <a:latin typeface="Aptos"/>
              </a:rPr>
              <a:t>RECUPERAÇÃO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6912" y="3456432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qualidade restaurada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968496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4A2A"/>
                </a:solidFill>
                <a:latin typeface="Aptos"/>
              </a:rPr>
              <a:t>Observabilidade não melhora o algoritmo sozinha; ela reduz o tempo de exposição ao problema ao orientar a resposta.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Como a qualidade e a operação são medidas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8912" y="1170432"/>
            <a:ext cx="19933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44299"/>
                </a:solidFill>
                <a:latin typeface="Aptos"/>
              </a:rPr>
              <a:t>NDCG@10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36776"/>
            <a:ext cx="1700784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0" i="0">
                <a:solidFill>
                  <a:srgbClr val="34454F"/>
                </a:solidFill>
                <a:latin typeface="Aptos"/>
              </a:rPr>
              <a:t>Relevância do Top-10, dando mais peso aos acertos nas primeiras posições.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5184" y="1170432"/>
            <a:ext cx="19933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1488" y="1325880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6633"/>
                </a:solidFill>
                <a:latin typeface="Aptos"/>
              </a:rPr>
              <a:t>Precision@10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1636776"/>
            <a:ext cx="1700784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0" i="0">
                <a:solidFill>
                  <a:srgbClr val="34454F"/>
                </a:solidFill>
                <a:latin typeface="Aptos"/>
              </a:rPr>
              <a:t>Parcela dos 10 itens recomendados que é relevante para o usuário.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1456" y="1170432"/>
            <a:ext cx="19933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25880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B61FF"/>
                </a:solidFill>
                <a:latin typeface="Aptos"/>
              </a:rPr>
              <a:t>Recall@10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36776"/>
            <a:ext cx="1700784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0" i="0">
                <a:solidFill>
                  <a:srgbClr val="34454F"/>
                </a:solidFill>
                <a:latin typeface="Aptos"/>
              </a:rPr>
              <a:t>Parcela dos itens relevantes que aparece entre as 10 recomendações.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7" y="1170432"/>
            <a:ext cx="19933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1" y="1325880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4872D"/>
                </a:solidFill>
                <a:latin typeface="Aptos"/>
              </a:rPr>
              <a:t>Hit Rate@10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1" y="1636776"/>
            <a:ext cx="1700784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0" i="0">
                <a:solidFill>
                  <a:srgbClr val="34454F"/>
                </a:solidFill>
                <a:latin typeface="Aptos"/>
              </a:rPr>
              <a:t>Percentual de usuários que recebe ao menos um item relevante no Top-10.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2578608"/>
            <a:ext cx="19933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734056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4A2A"/>
                </a:solidFill>
                <a:latin typeface="Aptos"/>
              </a:rPr>
              <a:t>Cobertura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044952"/>
            <a:ext cx="1700784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0" i="0">
                <a:solidFill>
                  <a:srgbClr val="34454F"/>
                </a:solidFill>
                <a:latin typeface="Aptos"/>
              </a:rPr>
              <a:t>Fração do catálogo que aparece nas recomendações; indica diversidade de exposição.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15184" y="2578608"/>
            <a:ext cx="19933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1488" y="2734056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44299"/>
                </a:solidFill>
                <a:latin typeface="Aptos"/>
              </a:rPr>
              <a:t>Latência p95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044952"/>
            <a:ext cx="1700784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0" i="0">
                <a:solidFill>
                  <a:srgbClr val="34454F"/>
                </a:solidFill>
                <a:latin typeface="Aptos"/>
              </a:rPr>
              <a:t>Tempo abaixo do qual terminam 95% das requisições; evidencia a cauda lenta.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91456" y="2578608"/>
            <a:ext cx="19933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2734056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6633"/>
                </a:solidFill>
                <a:latin typeface="Aptos"/>
              </a:rPr>
              <a:t>Disponibilidade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044952"/>
            <a:ext cx="1700784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0" i="0">
                <a:solidFill>
                  <a:srgbClr val="34454F"/>
                </a:solidFill>
                <a:latin typeface="Aptos"/>
              </a:rPr>
              <a:t>Percentual de requisições concluídas com sucesso durante o cenário.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67727" y="2578608"/>
            <a:ext cx="19933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2734056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B61FF"/>
                </a:solidFill>
                <a:latin typeface="Aptos"/>
              </a:rPr>
              <a:t>Qualidade dos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3044952"/>
            <a:ext cx="1700784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860" b="0" i="0">
                <a:solidFill>
                  <a:srgbClr val="34454F"/>
                </a:solidFill>
                <a:latin typeface="Aptos"/>
              </a:rPr>
              <a:t>Score composto por domínio válido, integridade referencial e unicidade.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087368"/>
            <a:ext cx="7827264" cy="393192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ED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197096"/>
            <a:ext cx="74066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4A2A"/>
                </a:solidFill>
                <a:latin typeface="Aptos"/>
              </a:rPr>
              <a:t>Princípio usado: cada ataque é avaliado pela métrica que ele realmente pretende degradar.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RECOMENDAÇÃO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Três modelos executados na bateria real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207008"/>
            <a:ext cx="2532888" cy="2615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426464"/>
            <a:ext cx="384048" cy="384048"/>
          </a:xfrm>
          <a:prstGeom prst="ellipse">
            <a:avLst/>
          </a:prstGeom>
          <a:solidFill>
            <a:srgbClr val="F4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" y="1399032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2433"/>
                </a:solidFill>
                <a:latin typeface="Aptos"/>
              </a:rPr>
              <a:t>Popularidade regularizada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48256"/>
            <a:ext cx="21671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34454F"/>
                </a:solidFill>
                <a:latin typeface="Aptos"/>
              </a:rPr>
              <a:t>Baseline que ordena itens pela popularidade, com regularização para reduzir o efeito de poucos votos.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216712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07D84"/>
                </a:solidFill>
                <a:latin typeface="Aptos"/>
              </a:rPr>
              <a:t>Lista global; não personaliza por perfil.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4872D"/>
                </a:solidFill>
                <a:latin typeface="Aptos"/>
              </a:rPr>
              <a:t>NDCG inicial  0.000000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11296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07D84"/>
                </a:solidFill>
                <a:latin typeface="Aptos"/>
              </a:rPr>
              <a:t>Cobertura inicial  0.0011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207008"/>
            <a:ext cx="2532888" cy="2615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02152" y="1426464"/>
            <a:ext cx="384048" cy="384048"/>
          </a:xfrm>
          <a:prstGeom prst="ellipse">
            <a:avLst/>
          </a:prstGeom>
          <a:solidFill>
            <a:srgbClr val="04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4215" y="1399032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2433"/>
                </a:solidFill>
                <a:latin typeface="Aptos"/>
              </a:rPr>
              <a:t>Conteúdo por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048256"/>
            <a:ext cx="21671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34454F"/>
                </a:solidFill>
                <a:latin typeface="Aptos"/>
              </a:rPr>
              <a:t>Representa tags por TF-IDF e usa similaridade de cosseno com o histórico do usuário.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788920"/>
            <a:ext cx="216712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07D84"/>
                </a:solidFill>
                <a:latin typeface="Aptos"/>
              </a:rPr>
              <a:t>Responde às características dos livros.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24612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44299"/>
                </a:solidFill>
                <a:latin typeface="Aptos"/>
              </a:rPr>
              <a:t>NDCG inicial  0.032474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511296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07D84"/>
                </a:solidFill>
                <a:latin typeface="Aptos"/>
              </a:rPr>
              <a:t>Cobertura inicial  0.0815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207008"/>
            <a:ext cx="2532888" cy="2615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18504" y="1426464"/>
            <a:ext cx="384048" cy="38404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399032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2433"/>
                </a:solidFill>
                <a:latin typeface="Aptos"/>
              </a:rPr>
              <a:t>Colaborativo item-item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048256"/>
            <a:ext cx="21671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34454F"/>
                </a:solidFill>
                <a:latin typeface="Aptos"/>
              </a:rPr>
              <a:t>Compara colunas da matriz usuário–item para encontrar livros avaliados de forma semelhante.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788920"/>
            <a:ext cx="216712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707D84"/>
                </a:solidFill>
                <a:latin typeface="Aptos"/>
              </a:rPr>
              <a:t>Responde ao comportamento coletivo.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324612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B61FF"/>
                </a:solidFill>
                <a:latin typeface="Aptos"/>
              </a:rPr>
              <a:t>NDCG inicial  0.009643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511296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07D84"/>
                </a:solidFill>
                <a:latin typeface="Aptos"/>
              </a:rPr>
              <a:t>Cobertura inicial  0.0938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151376"/>
            <a:ext cx="78181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004A2A"/>
                </a:solidFill>
                <a:latin typeface="Aptos"/>
              </a:rPr>
              <a:t>TF-IDF: destaca tags características.  •  Cosseno: mede a proximidade entre vetores.  •  Regularização: reduz extremos com pouca evidência.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882896"/>
            <a:ext cx="3977639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707D84"/>
                </a:solidFill>
                <a:latin typeface="Aptos"/>
              </a:rPr>
              <a:t>Fonte: bateria experimental medida em 19/10/2026 — condição inicial, Top-10.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Dados e pipeline do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832104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07D84"/>
                </a:solidFill>
                <a:latin typeface="Aptos"/>
              </a:rPr>
              <a:t>Base Goodbooks normalizada e carregada no banco local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1088136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8912" y="1298448"/>
            <a:ext cx="1517904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53896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6633"/>
                </a:solidFill>
                <a:latin typeface="Aptos"/>
              </a:rPr>
              <a:t>10.000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3" y="179222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livros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9696" y="1298448"/>
            <a:ext cx="1517904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1136" y="1453896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44299"/>
                </a:solidFill>
                <a:latin typeface="Aptos"/>
              </a:rPr>
              <a:t>979.478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179222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avaliações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298448"/>
            <a:ext cx="1517904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453896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7B61FF"/>
                </a:solidFill>
                <a:latin typeface="Aptos"/>
              </a:rPr>
              <a:t>34.252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179222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tags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1298448"/>
            <a:ext cx="1517904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32704" y="1453896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4872D"/>
                </a:solidFill>
                <a:latin typeface="Aptos"/>
              </a:rPr>
              <a:t>999.904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179222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relações livro–tag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2048" y="1298448"/>
            <a:ext cx="1517904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1453896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4A2A"/>
                </a:solidFill>
                <a:latin typeface="Aptos"/>
              </a:rPr>
              <a:t>912.705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79222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itens “quero ler”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" y="2587752"/>
            <a:ext cx="365760" cy="36576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3054096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2433"/>
                </a:solidFill>
                <a:latin typeface="Aptos"/>
              </a:rPr>
              <a:t>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" y="3319272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707D84"/>
                </a:solidFill>
                <a:latin typeface="Aptos"/>
              </a:rPr>
              <a:t>entrada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5256" y="2770632"/>
            <a:ext cx="905256" cy="0"/>
          </a:xfrm>
          <a:prstGeom prst="line">
            <a:avLst/>
          </a:prstGeom>
          <a:ln w="1651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883664" y="2587752"/>
            <a:ext cx="365760" cy="36576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3054096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2433"/>
                </a:solidFill>
                <a:latin typeface="Aptos"/>
              </a:rPr>
              <a:t>Validação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2496" y="3319272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707D84"/>
                </a:solidFill>
                <a:latin typeface="Aptos"/>
              </a:rPr>
              <a:t>tipos e domínio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276856" y="2770632"/>
            <a:ext cx="905256" cy="0"/>
          </a:xfrm>
          <a:prstGeom prst="line">
            <a:avLst/>
          </a:prstGeom>
          <a:ln w="1651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255264" y="2587752"/>
            <a:ext cx="365760" cy="36576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9232" y="3054096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2433"/>
                </a:solidFill>
                <a:latin typeface="Aptos"/>
              </a:rPr>
              <a:t>Consolidar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4096" y="3319272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707D84"/>
                </a:solidFill>
                <a:latin typeface="Aptos"/>
              </a:rPr>
              <a:t>duplicatas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48456" y="2770632"/>
            <a:ext cx="905256" cy="0"/>
          </a:xfrm>
          <a:prstGeom prst="line">
            <a:avLst/>
          </a:prstGeom>
          <a:ln w="1651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626864" y="2587752"/>
            <a:ext cx="365760" cy="36576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3054096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2433"/>
                </a:solidFill>
                <a:latin typeface="Aptos"/>
              </a:rPr>
              <a:t>Banco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3319272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707D84"/>
                </a:solidFill>
                <a:latin typeface="Aptos"/>
              </a:rPr>
              <a:t>transação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0056" y="2770632"/>
            <a:ext cx="905256" cy="0"/>
          </a:xfrm>
          <a:prstGeom prst="line">
            <a:avLst/>
          </a:prstGeom>
          <a:ln w="1651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998464" y="2587752"/>
            <a:ext cx="365760" cy="36576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42432" y="3054096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2433"/>
                </a:solidFill>
                <a:latin typeface="Aptos"/>
              </a:rPr>
              <a:t>Snapshot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7296" y="3319272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707D84"/>
                </a:solidFill>
                <a:latin typeface="Aptos"/>
              </a:rPr>
              <a:t>revisão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91656" y="2770632"/>
            <a:ext cx="905256" cy="0"/>
          </a:xfrm>
          <a:prstGeom prst="line">
            <a:avLst/>
          </a:prstGeom>
          <a:ln w="1651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370064" y="2587752"/>
            <a:ext cx="365760" cy="36576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3054096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2433"/>
                </a:solidFill>
                <a:latin typeface="Aptos"/>
              </a:rPr>
              <a:t>Ranking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8896" y="3319272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707D84"/>
                </a:solidFill>
                <a:latin typeface="Aptos"/>
              </a:rPr>
              <a:t>Top-K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3803904"/>
            <a:ext cx="7863840" cy="438912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ED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3931920"/>
            <a:ext cx="7452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4A2A"/>
                </a:solidFill>
                <a:latin typeface="Aptos"/>
              </a:rPr>
              <a:t>Correção aplicada: chaves compostas repetidas são consolidadas antes da inserção, preservando as restrições do banco.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Arquitetura do protótipo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133856"/>
            <a:ext cx="8211312" cy="2926080"/>
          </a:xfrm>
          <a:prstGeom prst="roundRect">
            <a:avLst/>
          </a:prstGeom>
          <a:solidFill>
            <a:srgbClr val="F4F7F7"/>
          </a:solidFill>
          <a:ln w="10160">
            <a:solidFill>
              <a:srgbClr val="D9E3E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26187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6633"/>
                </a:solidFill>
                <a:latin typeface="Aptos"/>
              </a:rPr>
              <a:t>AMBIENTE LOCAL / KUBERNETES / 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01952"/>
            <a:ext cx="11887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20824"/>
            <a:ext cx="104241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44299"/>
                </a:solidFill>
                <a:latin typeface="Aptos"/>
              </a:rPr>
              <a:t>Usuário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86000"/>
            <a:ext cx="1042416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57984" y="1901952"/>
            <a:ext cx="14173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1136" y="2020824"/>
            <a:ext cx="127101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6633"/>
                </a:solidFill>
                <a:latin typeface="Aptos"/>
              </a:rPr>
              <a:t>React + Nginx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286000"/>
            <a:ext cx="1271016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901952"/>
            <a:ext cx="14173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2" y="2020824"/>
            <a:ext cx="127101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4A2A"/>
                </a:solidFill>
                <a:latin typeface="Aptos"/>
              </a:rP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2286000"/>
            <a:ext cx="1271016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API + auth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22976" y="1901952"/>
            <a:ext cx="14173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2020824"/>
            <a:ext cx="127101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7B61FF"/>
                </a:solidFill>
                <a:latin typeface="Aptos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2286000"/>
            <a:ext cx="1271016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persistência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2057400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057400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057400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944368"/>
            <a:ext cx="1417320" cy="566928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91B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08152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6633"/>
                </a:solidFill>
                <a:latin typeface="Aptos"/>
              </a:rPr>
              <a:t>Recomendadores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25968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1BD00"/>
                </a:solidFill>
                <a:latin typeface="Aptos"/>
              </a:rPr>
              <a:t>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481328"/>
            <a:ext cx="1124712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1627632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04A2A"/>
                </a:solidFill>
                <a:latin typeface="Aptos"/>
              </a:rPr>
              <a:t>OBSERVABILIDADE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2057400"/>
            <a:ext cx="146304" cy="146304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20025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34454F"/>
                </a:solidFill>
                <a:latin typeface="Aptos"/>
              </a:rPr>
              <a:t>Prometheus</a:t>
            </a:r>
          </a:p>
        </p:txBody>
      </p:sp>
      <p:sp>
        <p:nvSpPr>
          <p:cNvPr id="29" name="Oval 28"/>
          <p:cNvSpPr/>
          <p:nvPr/>
        </p:nvSpPr>
        <p:spPr>
          <a:xfrm>
            <a:off x="7452360" y="2496312"/>
            <a:ext cx="146304" cy="146304"/>
          </a:xfrm>
          <a:prstGeom prst="ellipse">
            <a:avLst/>
          </a:prstGeom>
          <a:solidFill>
            <a:srgbClr val="F4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244144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34454F"/>
                </a:solidFill>
                <a:latin typeface="Aptos"/>
              </a:rPr>
              <a:t>Grafana</a:t>
            </a:r>
          </a:p>
        </p:txBody>
      </p:sp>
      <p:sp>
        <p:nvSpPr>
          <p:cNvPr id="31" name="Oval 30"/>
          <p:cNvSpPr/>
          <p:nvPr/>
        </p:nvSpPr>
        <p:spPr>
          <a:xfrm>
            <a:off x="7452360" y="2935224"/>
            <a:ext cx="146304" cy="14630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288036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34454F"/>
                </a:solidFill>
                <a:latin typeface="Aptos"/>
              </a:rPr>
              <a:t>Alertas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57800" y="1764792"/>
            <a:ext cx="2011680" cy="0"/>
          </a:xfrm>
          <a:prstGeom prst="line">
            <a:avLst/>
          </a:prstGeom>
          <a:ln w="19050">
            <a:solidFill>
              <a:srgbClr val="006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89320" y="157276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6633"/>
                </a:solidFill>
                <a:latin typeface="Aptos"/>
              </a:rPr>
              <a:t>/metrics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1879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6633"/>
                </a:solidFill>
                <a:latin typeface="Aptos"/>
              </a:rPr>
              <a:t>Controles incorporados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4160520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4454F"/>
                </a:solidFill>
                <a:latin typeface="Aptos"/>
              </a:rPr>
              <a:t>tokens assinados  •  autorização administrativa  •  validação  •  revisão do modelo  •  PVC + backup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Sistema web funcional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8912" y="1069848"/>
            <a:ext cx="6108192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stema_catalogo.png"/>
          <p:cNvPicPr>
            <a:picLocks noChangeAspect="1"/>
          </p:cNvPicPr>
          <p:nvPr/>
        </p:nvPicPr>
        <p:blipFill>
          <a:blip r:embed="rId2"/>
          <a:srcRect t="6549" b="6549"/>
          <a:stretch>
            <a:fillRect/>
          </a:stretch>
        </p:blipFill>
        <p:spPr>
          <a:xfrm>
            <a:off x="502920" y="1133856"/>
            <a:ext cx="5980176" cy="3118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2280" y="124358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4A2A"/>
                </a:solidFill>
                <a:latin typeface="Aptos"/>
              </a:rPr>
              <a:t>Fluxos disponíveis</a:t>
            </a:r>
          </a:p>
        </p:txBody>
      </p:sp>
      <p:sp>
        <p:nvSpPr>
          <p:cNvPr id="8" name="Oval 7"/>
          <p:cNvSpPr/>
          <p:nvPr/>
        </p:nvSpPr>
        <p:spPr>
          <a:xfrm>
            <a:off x="6793992" y="1746504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4304" y="1673352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4454F"/>
                </a:solidFill>
                <a:latin typeface="Aptos"/>
              </a:rPr>
              <a:t>Autenticação com senha e token</a:t>
            </a:r>
          </a:p>
        </p:txBody>
      </p:sp>
      <p:sp>
        <p:nvSpPr>
          <p:cNvPr id="10" name="Oval 9"/>
          <p:cNvSpPr/>
          <p:nvPr/>
        </p:nvSpPr>
        <p:spPr>
          <a:xfrm>
            <a:off x="6793992" y="2112264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304" y="2039112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4454F"/>
                </a:solidFill>
                <a:latin typeface="Aptos"/>
              </a:rPr>
              <a:t>Catálogo e consulta de livros</a:t>
            </a:r>
          </a:p>
        </p:txBody>
      </p:sp>
      <p:sp>
        <p:nvSpPr>
          <p:cNvPr id="12" name="Oval 11"/>
          <p:cNvSpPr/>
          <p:nvPr/>
        </p:nvSpPr>
        <p:spPr>
          <a:xfrm>
            <a:off x="6793992" y="2478024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4304" y="2404872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4454F"/>
                </a:solidFill>
                <a:latin typeface="Aptos"/>
              </a:rPr>
              <a:t>Avaliações, tags e lista de leitura</a:t>
            </a:r>
          </a:p>
        </p:txBody>
      </p:sp>
      <p:sp>
        <p:nvSpPr>
          <p:cNvPr id="14" name="Oval 13"/>
          <p:cNvSpPr/>
          <p:nvPr/>
        </p:nvSpPr>
        <p:spPr>
          <a:xfrm>
            <a:off x="6793992" y="2843784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4" y="2770632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4454F"/>
                </a:solidFill>
                <a:latin typeface="Aptos"/>
              </a:rPr>
              <a:t>Recomendação por item e por usuário</a:t>
            </a:r>
          </a:p>
        </p:txBody>
      </p:sp>
      <p:sp>
        <p:nvSpPr>
          <p:cNvPr id="16" name="Oval 15"/>
          <p:cNvSpPr/>
          <p:nvPr/>
        </p:nvSpPr>
        <p:spPr>
          <a:xfrm>
            <a:off x="6793992" y="3209544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3136391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4454F"/>
                </a:solidFill>
                <a:latin typeface="Aptos"/>
              </a:rPr>
              <a:t>Área administrativa protegida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48272" y="3703320"/>
            <a:ext cx="1773936" cy="475488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91B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3849624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6633"/>
                </a:solidFill>
                <a:latin typeface="Aptos"/>
              </a:rPr>
              <a:t>React + FastAPI integrados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Validação funcional e reprodutibilidade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188720"/>
            <a:ext cx="1865376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6824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06633"/>
                </a:solidFill>
                <a:latin typeface="Aptos"/>
              </a:rPr>
              <a:t>27/27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28216"/>
            <a:ext cx="168249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testes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188720"/>
            <a:ext cx="1865376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371600"/>
            <a:ext cx="16824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44299"/>
                </a:solidFill>
                <a:latin typeface="Aptos"/>
              </a:rPr>
              <a:t>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28216"/>
            <a:ext cx="168249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testes 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36592" y="1188720"/>
            <a:ext cx="1865376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1" y="1371600"/>
            <a:ext cx="16824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7B61FF"/>
                </a:solidFill>
                <a:latin typeface="Aptos"/>
              </a:rPr>
              <a:t>10.000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1728216"/>
            <a:ext cx="168249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livros no snapshot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21424" y="1188720"/>
            <a:ext cx="1865376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864" y="1371600"/>
            <a:ext cx="168249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4872D"/>
                </a:solidFill>
                <a:latin typeface="Aptos"/>
              </a:rPr>
              <a:t>979.478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1728216"/>
            <a:ext cx="168249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avaliações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2377440"/>
            <a:ext cx="2286000" cy="1600200"/>
          </a:xfrm>
          <a:prstGeom prst="round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578608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6633"/>
                </a:solidFill>
                <a:latin typeface="Aptos"/>
              </a:rPr>
              <a:t>SISTEMA</a:t>
            </a:r>
          </a:p>
        </p:txBody>
      </p:sp>
      <p:sp>
        <p:nvSpPr>
          <p:cNvPr id="19" name="Oval 18"/>
          <p:cNvSpPr/>
          <p:nvPr/>
        </p:nvSpPr>
        <p:spPr>
          <a:xfrm>
            <a:off x="795528" y="2980944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907792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API e interface integradas</a:t>
            </a:r>
          </a:p>
        </p:txBody>
      </p:sp>
      <p:sp>
        <p:nvSpPr>
          <p:cNvPr id="21" name="Oval 20"/>
          <p:cNvSpPr/>
          <p:nvPr/>
        </p:nvSpPr>
        <p:spPr>
          <a:xfrm>
            <a:off x="795528" y="3227832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154680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autenticação e autorização</a:t>
            </a:r>
          </a:p>
        </p:txBody>
      </p:sp>
      <p:sp>
        <p:nvSpPr>
          <p:cNvPr id="23" name="Oval 22"/>
          <p:cNvSpPr/>
          <p:nvPr/>
        </p:nvSpPr>
        <p:spPr>
          <a:xfrm>
            <a:off x="795528" y="3474720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01568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carga dos CSVs</a:t>
            </a:r>
          </a:p>
        </p:txBody>
      </p:sp>
      <p:sp>
        <p:nvSpPr>
          <p:cNvPr id="25" name="Oval 24"/>
          <p:cNvSpPr/>
          <p:nvPr/>
        </p:nvSpPr>
        <p:spPr>
          <a:xfrm>
            <a:off x="795528" y="3721608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648456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exportação XLSX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36976" y="2377440"/>
            <a:ext cx="2286000" cy="1600200"/>
          </a:xfrm>
          <a:prstGeom prst="round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2578608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6633"/>
                </a:solidFill>
                <a:latin typeface="Aptos"/>
              </a:rPr>
              <a:t>EXPERIMENTO</a:t>
            </a:r>
          </a:p>
        </p:txBody>
      </p:sp>
      <p:sp>
        <p:nvSpPr>
          <p:cNvPr id="29" name="Oval 28"/>
          <p:cNvSpPr/>
          <p:nvPr/>
        </p:nvSpPr>
        <p:spPr>
          <a:xfrm>
            <a:off x="3419856" y="2980944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2907792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snapshot controlado</a:t>
            </a:r>
          </a:p>
        </p:txBody>
      </p:sp>
      <p:sp>
        <p:nvSpPr>
          <p:cNvPr id="31" name="Oval 30"/>
          <p:cNvSpPr/>
          <p:nvPr/>
        </p:nvSpPr>
        <p:spPr>
          <a:xfrm>
            <a:off x="3419856" y="3227832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3154680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ataques sem alterar o banco</a:t>
            </a:r>
          </a:p>
        </p:txBody>
      </p:sp>
      <p:sp>
        <p:nvSpPr>
          <p:cNvPr id="33" name="Oval 32"/>
          <p:cNvSpPr/>
          <p:nvPr/>
        </p:nvSpPr>
        <p:spPr>
          <a:xfrm>
            <a:off x="3419856" y="3474720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0168" y="3401568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seed e coorte pareadas</a:t>
            </a:r>
          </a:p>
        </p:txBody>
      </p:sp>
      <p:sp>
        <p:nvSpPr>
          <p:cNvPr id="35" name="Oval 34"/>
          <p:cNvSpPr/>
          <p:nvPr/>
        </p:nvSpPr>
        <p:spPr>
          <a:xfrm>
            <a:off x="3419856" y="3721608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3648456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36 cenários medidos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61304" y="2377440"/>
            <a:ext cx="2286000" cy="1600200"/>
          </a:xfrm>
          <a:prstGeom prst="round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07608" y="2578608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6633"/>
                </a:solidFill>
                <a:latin typeface="Aptos"/>
              </a:rPr>
              <a:t>ENTREGA</a:t>
            </a:r>
          </a:p>
        </p:txBody>
      </p:sp>
      <p:sp>
        <p:nvSpPr>
          <p:cNvPr id="39" name="Oval 38"/>
          <p:cNvSpPr/>
          <p:nvPr/>
        </p:nvSpPr>
        <p:spPr>
          <a:xfrm>
            <a:off x="6044184" y="2980944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4496" y="2907792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Docker local</a:t>
            </a:r>
          </a:p>
        </p:txBody>
      </p:sp>
      <p:sp>
        <p:nvSpPr>
          <p:cNvPr id="41" name="Oval 40"/>
          <p:cNvSpPr/>
          <p:nvPr/>
        </p:nvSpPr>
        <p:spPr>
          <a:xfrm>
            <a:off x="6044184" y="3227832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4496" y="3154680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manifests Kubernetes/EKS</a:t>
            </a:r>
          </a:p>
        </p:txBody>
      </p:sp>
      <p:sp>
        <p:nvSpPr>
          <p:cNvPr id="43" name="Oval 42"/>
          <p:cNvSpPr/>
          <p:nvPr/>
        </p:nvSpPr>
        <p:spPr>
          <a:xfrm>
            <a:off x="6044184" y="3474720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3401568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deploy e destruição AWS</a:t>
            </a:r>
          </a:p>
        </p:txBody>
      </p:sp>
      <p:sp>
        <p:nvSpPr>
          <p:cNvPr id="45" name="Oval 44"/>
          <p:cNvSpPr/>
          <p:nvPr/>
        </p:nvSpPr>
        <p:spPr>
          <a:xfrm>
            <a:off x="6044184" y="3721608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96" y="3648456"/>
            <a:ext cx="17099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4454F"/>
                </a:solidFill>
                <a:latin typeface="Aptos"/>
              </a:rPr>
              <a:t>relatório reproduzível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4187952"/>
            <a:ext cx="7699248" cy="320040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ED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" y="4270248"/>
            <a:ext cx="733348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004A2A"/>
                </a:solidFill>
                <a:latin typeface="Aptos"/>
              </a:rPr>
              <a:t>A bateria foi concluída em 102,4 s e gerou quatro abas: Qualidade, Operação, Dados e Metodologia.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882896"/>
            <a:ext cx="3977639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707D84"/>
                </a:solidFill>
                <a:latin typeface="Aptos"/>
              </a:rPr>
              <a:t>Fonte: suíte automatizada do repositório e bateria medida em 19/10/2026.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Bateria pareada e medida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832104"/>
            <a:ext cx="8092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07D84"/>
                </a:solidFill>
                <a:latin typeface="Aptos"/>
              </a:rPr>
              <a:t>Mesma seed, mesma coorte e mesmo snapshot nos dois modos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1088136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8912" y="1225296"/>
            <a:ext cx="151790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3" y="13624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44299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3" y="169164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modelos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57984" y="1225296"/>
            <a:ext cx="151790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1136" y="13624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4872D"/>
                </a:solidFill>
                <a:latin typeface="Aptos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169164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ataques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77056" y="1225296"/>
            <a:ext cx="151790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13624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7B61FF"/>
                </a:solidFill>
                <a:latin typeface="Aptos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169164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comparações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96127" y="1225296"/>
            <a:ext cx="151790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79" y="13624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6633"/>
                </a:solidFill>
                <a:latin typeface="Aptos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79" y="169164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execuções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225296"/>
            <a:ext cx="151790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13624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4A2A"/>
                </a:solidFill>
                <a:latin typeface="Aptos"/>
              </a:rPr>
              <a:t>102.4s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169164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tempo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395728"/>
            <a:ext cx="2395728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2587752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44299"/>
                </a:solidFill>
                <a:latin typeface="Aptos"/>
              </a:rPr>
              <a:t>QUALIDADE INICIAL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2898648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modelo antes da injeção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9816" y="2633472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83864" y="2395728"/>
            <a:ext cx="2395728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2587752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4872D"/>
                </a:solidFill>
                <a:latin typeface="Aptos"/>
              </a:rPr>
              <a:t>SEM OBSERVABILIDADE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2898648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lote atacado permanece bruto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633472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91BD0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2395728"/>
            <a:ext cx="2395728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6" y="2587752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6633"/>
                </a:solidFill>
                <a:latin typeface="Aptos"/>
              </a:rPr>
              <a:t>COM OBSERVABILIDADE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2898648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detecção + resposta automática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47872"/>
            <a:ext cx="7772400" cy="713232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91B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703320"/>
            <a:ext cx="7406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4A2A"/>
                </a:solidFill>
                <a:latin typeface="Aptos"/>
              </a:rPr>
              <a:t>Seed 42  •  intensidade 30%  •  100 usuários  •  Top-10  •  alvo automático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977639"/>
            <a:ext cx="69494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07D84"/>
                </a:solidFill>
                <a:latin typeface="Aptos"/>
              </a:rPr>
              <a:t>O ataque ocorre em uma cópia controlada; o banco principal não é alterado.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882896"/>
            <a:ext cx="3977639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707D84"/>
                </a:solidFill>
                <a:latin typeface="Aptos"/>
              </a:rPr>
              <a:t>Fonte: aba Metodologia do XLSX exportado pelo sistema em 19/10/2026.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Ataques, sinais, respostas e métricas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75488" y="1161288"/>
            <a:ext cx="257860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07592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4872D"/>
                </a:solidFill>
                <a:latin typeface="Aptos"/>
              </a:rPr>
              <a:t>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34454F"/>
                </a:solidFill>
                <a:latin typeface="Aptos"/>
              </a:rPr>
              <a:t>promove item-alvo com perfis artificiais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29384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70" b="1" i="0">
                <a:solidFill>
                  <a:srgbClr val="004A2A"/>
                </a:solidFill>
                <a:latin typeface="Aptos"/>
              </a:rPr>
              <a:t>perfis atípicos → rollback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12848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707D84"/>
                </a:solidFill>
                <a:latin typeface="Aptos"/>
              </a:rPr>
              <a:t>Métrica: exposição/rank do alvo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161288"/>
            <a:ext cx="257860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144" y="1307592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B61FF"/>
                </a:solidFill>
                <a:latin typeface="Aptos"/>
              </a:rPr>
              <a:t>Nuke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160020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34454F"/>
                </a:solidFill>
                <a:latin typeface="Aptos"/>
              </a:rPr>
              <a:t>rebaixa item-alvo com notas artificiais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929384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70" b="1" i="0">
                <a:solidFill>
                  <a:srgbClr val="004A2A"/>
                </a:solidFill>
                <a:latin typeface="Aptos"/>
              </a:rPr>
              <a:t>perfis atípicos → rollback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212848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707D84"/>
                </a:solidFill>
                <a:latin typeface="Aptos"/>
              </a:rPr>
              <a:t>Métrica: exposição/rank do alvo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161288"/>
            <a:ext cx="257860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307592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44299"/>
                </a:solidFill>
                <a:latin typeface="Aptos"/>
              </a:rPr>
              <a:t>Corrupção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60020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34454F"/>
                </a:solidFill>
                <a:latin typeface="Aptos"/>
              </a:rPr>
              <a:t>injeta inválidos, órfãos e duplicatas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1929384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70" b="1" i="0">
                <a:solidFill>
                  <a:srgbClr val="004A2A"/>
                </a:solidFill>
                <a:latin typeface="Aptos"/>
              </a:rPr>
              <a:t>regras de dados → quarentena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212848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707D84"/>
                </a:solidFill>
                <a:latin typeface="Aptos"/>
              </a:rPr>
              <a:t>Métrica: score de qualidade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670048"/>
            <a:ext cx="257860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816352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6633"/>
                </a:solidFill>
                <a:latin typeface="Aptos"/>
              </a:rPr>
              <a:t>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10896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34454F"/>
                </a:solidFill>
                <a:latin typeface="Aptos"/>
              </a:rPr>
              <a:t>desloca a distribuição das notas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438144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70" b="1" i="0">
                <a:solidFill>
                  <a:srgbClr val="004A2A"/>
                </a:solidFill>
                <a:latin typeface="Aptos"/>
              </a:rPr>
              <a:t>mudança estatística → 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721608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707D84"/>
                </a:solidFill>
                <a:latin typeface="Aptos"/>
              </a:rPr>
              <a:t>Métrica: média + NDCG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670048"/>
            <a:ext cx="257860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38144" y="2816352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4A2A"/>
                </a:solidFill>
                <a:latin typeface="Aptos"/>
              </a:rPr>
              <a:t>Latência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8144" y="310896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34454F"/>
                </a:solidFill>
                <a:latin typeface="Aptos"/>
              </a:rPr>
              <a:t>adiciona atraso ao caminho crítico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8144" y="3438144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70" b="1" i="0">
                <a:solidFill>
                  <a:srgbClr val="004A2A"/>
                </a:solidFill>
                <a:latin typeface="Aptos"/>
              </a:rPr>
              <a:t>p95 alto → circuit breaker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8144" y="3721608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707D84"/>
                </a:solidFill>
                <a:latin typeface="Aptos"/>
              </a:rPr>
              <a:t>Métrica: p95 e p99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08192" y="2670048"/>
            <a:ext cx="2578608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2816352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4872D"/>
                </a:solidFill>
                <a:latin typeface="Aptos"/>
              </a:rPr>
              <a:t>Indisponibilidade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310896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34454F"/>
                </a:solidFill>
                <a:latin typeface="Aptos"/>
              </a:rPr>
              <a:t>simula falha de dependência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70" b="1" i="0">
                <a:solidFill>
                  <a:srgbClr val="004A2A"/>
                </a:solidFill>
                <a:latin typeface="Aptos"/>
              </a:rPr>
              <a:t>erros → 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3721608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707D84"/>
                </a:solidFill>
                <a:latin typeface="Aptos"/>
              </a:rPr>
              <a:t>Métrica: disponibilidade + falhas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315968"/>
            <a:ext cx="7827264" cy="292608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389120"/>
            <a:ext cx="74066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44299"/>
                </a:solidFill>
                <a:latin typeface="Aptos"/>
              </a:rPr>
              <a:t>Observabilidade só demonstra benefício quando sinal, resposta e métrica estão alinhados ao efeito do ataque.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RESULTADOS OBTIDOS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Push attack: promoção coordenada do item-alvo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4300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4A2A"/>
                </a:solidFill>
                <a:latin typeface="Aptos"/>
              </a:rPr>
              <a:t>Nota média do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44299"/>
                </a:solidFill>
                <a:latin typeface="Aptos"/>
              </a:rPr>
              <a:t>3.822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4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SEM OBS.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4872D"/>
                </a:solidFill>
                <a:latin typeface="Aptos"/>
              </a:rPr>
              <a:t>3.852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COM OBS.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6633"/>
                </a:solidFill>
                <a:latin typeface="Aptos"/>
              </a:rPr>
              <a:t>3.822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2" y="1133856"/>
            <a:ext cx="3767328" cy="914400"/>
          </a:xfrm>
          <a:prstGeom prst="roundRect">
            <a:avLst/>
          </a:prstGeom>
          <a:solidFill>
            <a:srgbClr val="FFF3E8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1280160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872D"/>
                </a:solidFill>
                <a:latin typeface="Aptos"/>
              </a:rPr>
              <a:t>O QUE OCORREU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15727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34454F"/>
                </a:solidFill>
                <a:latin typeface="Aptos"/>
              </a:rPr>
              <a:t>3.600 interações artificiais promoveram o alvo. A detecção dos novos perfis acionou rollback do lote.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2677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4A2A"/>
                </a:solidFill>
                <a:latin typeface="Aptos"/>
              </a:rPr>
              <a:t>NDCG@10 por modelo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51176"/>
            <a:ext cx="306324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651760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Modelo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216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Inicial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32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Sem obs.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Com obs.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898648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2999232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Popularidade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216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32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89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48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264408"/>
            <a:ext cx="306324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364991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Conteúdo por tags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216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73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932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9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48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630168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3730752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Colaborativo item-item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216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32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89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48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4114800"/>
            <a:ext cx="7827264" cy="457200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4224528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10" b="1" i="0">
                <a:solidFill>
                  <a:srgbClr val="044299"/>
                </a:solidFill>
                <a:latin typeface="Aptos"/>
              </a:rPr>
              <a:t>Os três NDCGs permaneceram iguais. O ataque existiu e alterou os dados, mas esta métrica verifica o item relevante retido — não a posição nem a exposição do livro-alvo.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4882896"/>
            <a:ext cx="3977639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707D84"/>
                </a:solidFill>
                <a:latin typeface="Aptos"/>
              </a:rPr>
              <a:t>Fonte: abas Dados, Qualidade e Operação da bateria medida em 19/10/2026.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RESULTADOS OBTIDOS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Nuke attack: supressão coordenada do item-alvo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4300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4A2A"/>
                </a:solidFill>
                <a:latin typeface="Aptos"/>
              </a:rPr>
              <a:t>Nota média do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44299"/>
                </a:solidFill>
                <a:latin typeface="Aptos"/>
              </a:rPr>
              <a:t>3.822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4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SEM OBS.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4872D"/>
                </a:solidFill>
                <a:latin typeface="Aptos"/>
              </a:rPr>
              <a:t>3.867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COM OBS.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6633"/>
                </a:solidFill>
                <a:latin typeface="Aptos"/>
              </a:rPr>
              <a:t>3.822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2" y="1133856"/>
            <a:ext cx="3767328" cy="914400"/>
          </a:xfrm>
          <a:prstGeom prst="roundRect">
            <a:avLst/>
          </a:prstGeom>
          <a:solidFill>
            <a:srgbClr val="F1EE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1280160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B61FF"/>
                </a:solidFill>
                <a:latin typeface="Aptos"/>
              </a:rPr>
              <a:t>POR QUE A MÉDIA AUMENTOU?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15727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34454F"/>
                </a:solidFill>
                <a:latin typeface="Aptos"/>
              </a:rPr>
              <a:t>O alvo recebeu nota 1. mas os cinco livros de apoio receberam nota 5 em 3.600 novas interações; por isso a média global subiu.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2677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4A2A"/>
                </a:solidFill>
                <a:latin typeface="Aptos"/>
              </a:rPr>
              <a:t>NDCG@10 por modelo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51176"/>
            <a:ext cx="306324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651760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Modelo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216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Inicial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32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Sem obs.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Com obs.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898648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2999232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Popularidade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216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32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89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48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264408"/>
            <a:ext cx="306324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364991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Conteúdo por tags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216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73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932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9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48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630168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3730752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Colaborativo item-item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216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32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89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48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4114800"/>
            <a:ext cx="7827264" cy="457200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4224528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10" b="1" i="0">
                <a:solidFill>
                  <a:srgbClr val="004A2A"/>
                </a:solidFill>
                <a:latin typeface="Aptos"/>
              </a:rPr>
              <a:t>O rollback restaurou o snapshot, mas o NDCG continuou sem registrar a tentativa de rebaixar o alvo. A avaliação adequada deve incluir posição, exposição e taxa de sucesso do ataque.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4882896"/>
            <a:ext cx="3977639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707D84"/>
                </a:solidFill>
                <a:latin typeface="Aptos"/>
              </a:rPr>
              <a:t>Fonte: abas Dados, Qualidade e Operação da bateria medida em 19/10/2026.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RESULTADOS OBTIDOS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Corrupção: impacto dos dados por modelo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4300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4A2A"/>
                </a:solidFill>
                <a:latin typeface="Aptos"/>
              </a:rPr>
              <a:t>Score de qualidade dos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44299"/>
                </a:solidFill>
                <a:latin typeface="Aptos"/>
              </a:rPr>
              <a:t>1.000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4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SEM OBS.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4872D"/>
                </a:solidFill>
                <a:latin typeface="Aptos"/>
              </a:rPr>
              <a:t>0.471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COM OBS.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6633"/>
                </a:solidFill>
                <a:latin typeface="Aptos"/>
              </a:rPr>
              <a:t>1.000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2" y="1133856"/>
            <a:ext cx="3767328" cy="914400"/>
          </a:xfrm>
          <a:prstGeom prst="roundRect">
            <a:avLst/>
          </a:prstGeom>
          <a:solidFill>
            <a:srgbClr val="FFF3E8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1280160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872D"/>
                </a:solidFill>
                <a:latin typeface="Aptos"/>
              </a:rPr>
              <a:t>O QUE OCORREU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15727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34454F"/>
                </a:solidFill>
                <a:latin typeface="Aptos"/>
              </a:rPr>
              <a:t>O lote chegou a 7,69% de inválidos, 7,69% de órfãos e 37,5% de duplicidade. A resposta colocou o lote em quarentena.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2677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4A2A"/>
                </a:solidFill>
                <a:latin typeface="Aptos"/>
              </a:rPr>
              <a:t>NDCG@10 por modelo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51176"/>
            <a:ext cx="306324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651760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Modelo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216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Inicial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32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Sem obs.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Com obs.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898648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2999232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Popularidade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216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32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89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48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264408"/>
            <a:ext cx="306324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364991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Conteúdo por tags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216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73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932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9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0.029379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48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630168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3730752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Colaborativo item-item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216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32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89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0.012023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48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4114800"/>
            <a:ext cx="7827264" cy="457200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4224528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44299"/>
                </a:solidFill>
                <a:latin typeface="Aptos"/>
              </a:rPr>
              <a:t>Conteúdo perdeu 9,5% e foi restaurado. Popularidade ficou no piso zero. O aumento isolado do item-item não representa melhoria: o score 0,471 comprova a degradação dos dados.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4882896"/>
            <a:ext cx="3977639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707D84"/>
                </a:solidFill>
                <a:latin typeface="Aptos"/>
              </a:rPr>
              <a:t>Fonte: abas Dados e Qualidade da bateria medida em 19/10/2026.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RESULTADOS OBTIDOS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Drift: mudança de distribuição e impacto por modelo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4300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4A2A"/>
                </a:solidFill>
                <a:latin typeface="Aptos"/>
              </a:rPr>
              <a:t>Nota média do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44299"/>
                </a:solidFill>
                <a:latin typeface="Aptos"/>
              </a:rPr>
              <a:t>3.822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4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SEM OBS.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4872D"/>
                </a:solidFill>
                <a:latin typeface="Aptos"/>
              </a:rPr>
              <a:t>4.182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COM OBS.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6633"/>
                </a:solidFill>
                <a:latin typeface="Aptos"/>
              </a:rPr>
              <a:t>3.822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2" y="1133856"/>
            <a:ext cx="3767328" cy="914400"/>
          </a:xfrm>
          <a:prstGeom prst="roundRect">
            <a:avLst/>
          </a:prstGeom>
          <a:solidFill>
            <a:srgbClr val="FFF3E8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1280160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872D"/>
                </a:solidFill>
                <a:latin typeface="Aptos"/>
              </a:rPr>
              <a:t>O QUE OCORREU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15727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34454F"/>
                </a:solidFill>
                <a:latin typeface="Aptos"/>
              </a:rPr>
              <a:t>Uma fração controlada das avaliações foi deslocada para notas altas. O monitoramento detectou a mudança estatística e aplicou rollback.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2677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4A2A"/>
                </a:solidFill>
                <a:latin typeface="Aptos"/>
              </a:rPr>
              <a:t>NDCG@10 por modelo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51176"/>
            <a:ext cx="306324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651760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Modelo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216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Inicial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32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Sem obs.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Com obs.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898648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2999232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Popularidade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216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32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89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48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264408"/>
            <a:ext cx="306324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364991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Conteúdo por tags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216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73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932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9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0.026021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48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630168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3730752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Colaborativo item-item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216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32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89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48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4114800"/>
            <a:ext cx="7827264" cy="457200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4224528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10" b="1" i="0">
                <a:solidFill>
                  <a:srgbClr val="004A2A"/>
                </a:solidFill>
                <a:latin typeface="Aptos"/>
              </a:rPr>
              <a:t>Popularidade permaneceu no piso zero; conteúdo perdeu 19,9%; item-item caiu 100%. Após o rollback, conteúdo e item-item retornaram exatamente ao valor inicial.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4882896"/>
            <a:ext cx="3977639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707D84"/>
                </a:solidFill>
                <a:latin typeface="Aptos"/>
              </a:rPr>
              <a:t>Fonte: abas Dados e Qualidade da bateria medida em 19/10/2026.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RESULTADOS OBTIDOS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Latência: resposta parcial, sem perda de relevância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8872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4A2A"/>
                </a:solidFill>
                <a:latin typeface="Aptos"/>
              </a:rPr>
              <a:t>p95 médio dos três modelos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4475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54533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74650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44299"/>
                </a:solidFill>
                <a:latin typeface="Aptos"/>
              </a:rPr>
              <a:t>35.81 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144475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4" y="154533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SEM OBS.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174650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4872D"/>
                </a:solidFill>
                <a:latin typeface="Aptos"/>
              </a:rPr>
              <a:t>88.54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44475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54533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COM OBS.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74650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6633"/>
                </a:solidFill>
                <a:latin typeface="Aptos"/>
              </a:rPr>
              <a:t>78.31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2" y="1179576"/>
            <a:ext cx="3767328" cy="896112"/>
          </a:xfrm>
          <a:prstGeom prst="roundRect">
            <a:avLst/>
          </a:prstGeom>
          <a:solidFill>
            <a:srgbClr val="FFF3E8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1325880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872D"/>
                </a:solidFill>
                <a:latin typeface="Aptos"/>
              </a:rPr>
              <a:t>O QUE OCORREU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1618488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34454F"/>
                </a:solidFill>
                <a:latin typeface="Aptos"/>
              </a:rPr>
              <a:t>O atraso elevou o p95 em 147%. Circuit breaker e desvio do caminho degradado reduziram 11,5% da latência atacada.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9572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4A2A"/>
                </a:solidFill>
                <a:latin typeface="Aptos"/>
              </a:rPr>
              <a:t>p95 por modelo (ms)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679192"/>
            <a:ext cx="306324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779776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Modelo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21608" y="2679192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2779776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Inicial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3208" y="2679192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2779776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Sem obs.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8" y="2679192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779776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Com obs.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026664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127248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Popularidade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21608" y="3026664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312724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1.425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3208" y="3026664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8928" y="312724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54.985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4808" y="3026664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12724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50.894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392424"/>
            <a:ext cx="306324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493008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Conteúdo por tags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21608" y="3392424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7328" y="349300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71.414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93208" y="3392424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928" y="349300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128.843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4808" y="3392424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49300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114.361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758184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3858768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Colaborativo item-item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21608" y="3758184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385876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34.592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3208" y="3758184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8928" y="385876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81.790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4808" y="3758184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3858768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69.685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4224528"/>
            <a:ext cx="7827264" cy="292608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" y="4297680"/>
            <a:ext cx="7424927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044299"/>
                </a:solidFill>
                <a:latin typeface="Aptos"/>
              </a:rPr>
              <a:t>NDCG permaneceu igual: esse ataque degrada tempo de resposta, não a ordem do ranking. A disponibilidade ficou em 100%.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4882896"/>
            <a:ext cx="3977639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707D84"/>
                </a:solidFill>
                <a:latin typeface="Aptos"/>
              </a:rPr>
              <a:t>Fonte: abas Operação e Qualidade da bateria medida em 19/10/2026.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RESULTADOS OBTIDOS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Indisponibilidade: operação × relevância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14300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4A2A"/>
                </a:solidFill>
                <a:latin typeface="Aptos"/>
              </a:rPr>
              <a:t>Disponibilidade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44299"/>
                </a:solidFill>
                <a:latin typeface="Aptos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4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SEM OBS.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4872D"/>
                </a:solidFill>
                <a:latin typeface="Aptos"/>
              </a:rPr>
              <a:t>41%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1399032"/>
            <a:ext cx="1243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4996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707D84"/>
                </a:solidFill>
                <a:latin typeface="Aptos"/>
              </a:rPr>
              <a:t>COM OBS.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700784"/>
            <a:ext cx="1170432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6633"/>
                </a:solidFill>
                <a:latin typeface="Aptos"/>
              </a:rPr>
              <a:t>99%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2" y="1133856"/>
            <a:ext cx="3767328" cy="914400"/>
          </a:xfrm>
          <a:prstGeom prst="roundRect">
            <a:avLst/>
          </a:prstGeom>
          <a:solidFill>
            <a:srgbClr val="FFF3E8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1280160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872D"/>
                </a:solidFill>
                <a:latin typeface="Aptos"/>
              </a:rPr>
              <a:t>O QUE OCORREU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15727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34454F"/>
                </a:solidFill>
                <a:latin typeface="Aptos"/>
              </a:rPr>
              <a:t>O fallback por popularidade reduziu as falhas agregadas de 177 para 3, mas trocou os rankings personalizados por uma lista global.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26771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4A2A"/>
                </a:solidFill>
                <a:latin typeface="Aptos"/>
              </a:rPr>
              <a:t>NDCG@10 por modelo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51176"/>
            <a:ext cx="306324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651760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Modelo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216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Inicial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32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Sem obs.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8" y="2551176"/>
            <a:ext cx="1371600" cy="347472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651760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ptos"/>
              </a:rPr>
              <a:t>Com obs.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898648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2999232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Popularidade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216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32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89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4808" y="289864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299923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264408"/>
            <a:ext cx="306324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364991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Conteúdo por tags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216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73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0.032474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932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9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0.020000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4808" y="3264408"/>
            <a:ext cx="1371600" cy="347472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364991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630168"/>
            <a:ext cx="3063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3730752"/>
            <a:ext cx="29718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72433"/>
                </a:solidFill>
                <a:latin typeface="Aptos"/>
              </a:rPr>
              <a:t>Colaborativo item-item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216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0.009643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32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89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0.003333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4808" y="3630168"/>
            <a:ext cx="1371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373075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34454F"/>
                </a:solidFill>
                <a:latin typeface="Aptos"/>
              </a:rPr>
              <a:t>0.000000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4114800"/>
            <a:ext cx="7827264" cy="457200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4224528"/>
            <a:ext cx="7406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44299"/>
                </a:solidFill>
                <a:latin typeface="Aptos"/>
              </a:rPr>
              <a:t>A observabilidade recuperou +58 p.p. de disponibilidade e reduziu 98,3% das falhas. Porém, o fallback herdou o NDCG zero da popularidade e não preservou a relevância.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4882896"/>
            <a:ext cx="3977639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707D84"/>
                </a:solidFill>
                <a:latin typeface="Aptos"/>
              </a:rPr>
              <a:t>Fonte: abas Operação e Qualidade da bateria medida em 19/10/2026.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RESULTADOS OBTIDOS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Síntese da qualidade de recomendação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12648" y="1170432"/>
            <a:ext cx="2487168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4872D"/>
                </a:solidFill>
                <a:latin typeface="Aptos"/>
              </a:rPr>
              <a:t>Popularidade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0078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72433"/>
                </a:solidFill>
                <a:latin typeface="Aptos"/>
              </a:rPr>
              <a:t>NDCG  0.000000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cobertura  0.0011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170432"/>
            <a:ext cx="2487168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34416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44299"/>
                </a:solidFill>
                <a:latin typeface="Aptos"/>
              </a:rPr>
              <a:t>Conteúdo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70078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72433"/>
                </a:solidFill>
                <a:latin typeface="Aptos"/>
              </a:rPr>
              <a:t>NDCG  0.032474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99339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cobertura  0.0815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170432"/>
            <a:ext cx="2487168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34416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7B61FF"/>
                </a:solidFill>
                <a:latin typeface="Aptos"/>
              </a:rPr>
              <a:t>Item–item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0078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72433"/>
                </a:solidFill>
                <a:latin typeface="Aptos"/>
              </a:rPr>
              <a:t>NDCG  0.009643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99339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707D84"/>
                </a:solidFill>
                <a:latin typeface="Aptos"/>
              </a:rPr>
              <a:t>cobertura  0.0938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15184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4A2A"/>
                </a:solidFill>
                <a:latin typeface="Aptos"/>
              </a:rPr>
              <a:t>NDCG inicial × cenário atacado nas 18 combinações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944368"/>
            <a:ext cx="10972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063240"/>
            <a:ext cx="950976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4872D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364992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707D84"/>
                </a:solidFill>
                <a:latin typeface="Aptos"/>
              </a:rPr>
              <a:t>quedas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1" y="2944368"/>
            <a:ext cx="10972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44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66543" y="3063240"/>
            <a:ext cx="950976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44299"/>
                </a:solidFill>
                <a:latin typeface="Aptos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399" y="3364992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707D84"/>
                </a:solidFill>
                <a:latin typeface="Aptos"/>
              </a:rPr>
              <a:t>iguais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39" y="2944368"/>
            <a:ext cx="10972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1" y="3063240"/>
            <a:ext cx="950976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7B61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7" y="3364992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707D84"/>
                </a:solidFill>
                <a:latin typeface="Aptos"/>
              </a:rPr>
              <a:t>aumento isolado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578608"/>
            <a:ext cx="3822191" cy="1078992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9744" y="2724912"/>
            <a:ext cx="352958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6633"/>
                </a:solidFill>
                <a:latin typeface="Aptos"/>
              </a:rPr>
              <a:t>O QUE OS NÚMEROS DEMONSTRAM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3017520"/>
            <a:ext cx="3529584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34454F"/>
                </a:solidFill>
                <a:latin typeface="Aptos"/>
              </a:rPr>
              <a:t>Corrupção e drift degradaram a qualidade de modelos sensíveis e foram revertidos. Latência e push/nuke não alteraram o NDCG. Outage mostrou conflito entre disponibilidade e relevância.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95928"/>
            <a:ext cx="7827264" cy="411480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105656"/>
            <a:ext cx="73700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044299"/>
                </a:solidFill>
                <a:latin typeface="Aptos"/>
              </a:rPr>
              <a:t>Um valor maior após corrupção no item–item foi uma oscilação isolada; não supera a evidência direta de dados inválidos e duplicados.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882896"/>
            <a:ext cx="3977639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1">
                <a:solidFill>
                  <a:srgbClr val="707D84"/>
                </a:solidFill>
                <a:latin typeface="Aptos"/>
              </a:rPr>
              <a:t>Fonte: aba Qualidade da bateria medida em 19/10/2026.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Onde a observabilidade ajudou — e onde não bastou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12648" y="1170432"/>
            <a:ext cx="7918704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16736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6633"/>
                </a:solidFill>
                <a:latin typeface="Aptos"/>
              </a:rPr>
              <a:t>Corrupção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16736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433"/>
                </a:solidFill>
                <a:latin typeface="Aptos"/>
              </a:rPr>
              <a:t>Recuperação completa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1316736"/>
            <a:ext cx="4343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34454F"/>
                </a:solidFill>
                <a:latin typeface="Aptos"/>
              </a:rPr>
              <a:t>quarentena restaurou score e NDCG de conteúdo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92224"/>
            <a:ext cx="7918704" cy="493776"/>
          </a:xfrm>
          <a:prstGeom prst="round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38528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6633"/>
                </a:solidFill>
                <a:latin typeface="Aptos"/>
              </a:rPr>
              <a:t>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938528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433"/>
                </a:solidFill>
                <a:latin typeface="Aptos"/>
              </a:rPr>
              <a:t>Recuperação completa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938528"/>
            <a:ext cx="4343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34454F"/>
                </a:solidFill>
                <a:latin typeface="Aptos"/>
              </a:rPr>
              <a:t>rollback restaurou distribuição e ranking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2414016"/>
            <a:ext cx="7918704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44299"/>
                </a:solidFill>
                <a:latin typeface="Aptos"/>
              </a:rPr>
              <a:t>Latência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560320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433"/>
                </a:solidFill>
                <a:latin typeface="Aptos"/>
              </a:rPr>
              <a:t>Melhora parcial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560320"/>
            <a:ext cx="4343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34454F"/>
                </a:solidFill>
                <a:latin typeface="Aptos"/>
              </a:rPr>
              <a:t>p95 caiu, mas permaneceu acima do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3035808"/>
            <a:ext cx="7918704" cy="493776"/>
          </a:xfrm>
          <a:prstGeom prst="round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182112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4872D"/>
                </a:solidFill>
                <a:latin typeface="Aptos"/>
              </a:rPr>
              <a:t>Outage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18211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433"/>
                </a:solidFill>
                <a:latin typeface="Aptos"/>
              </a:rPr>
              <a:t>Operação recuperada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3182112"/>
            <a:ext cx="4343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34454F"/>
                </a:solidFill>
                <a:latin typeface="Aptos"/>
              </a:rPr>
              <a:t>disponibilidade voltou; personalização não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3657600"/>
            <a:ext cx="7918704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803904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B61FF"/>
                </a:solidFill>
                <a:latin typeface="Aptos"/>
              </a:rPr>
              <a:t>Push / nuke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803904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433"/>
                </a:solidFill>
                <a:latin typeface="Aptos"/>
              </a:rPr>
              <a:t>Detecção e 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803904"/>
            <a:ext cx="4343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34454F"/>
                </a:solidFill>
                <a:latin typeface="Aptos"/>
              </a:rPr>
              <a:t>NDCG não mede diretamente o alvo atacado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07408"/>
            <a:ext cx="7827264" cy="292608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ED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480560"/>
            <a:ext cx="746150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004A2A"/>
                </a:solidFill>
                <a:latin typeface="Aptos"/>
              </a:rPr>
              <a:t>Síntese: observabilidade reduz exposição e orienta respostas, mas a defesa e a métrica precisam corresponder ao mecanismo da falha.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286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1BD00"/>
                </a:solidFill>
                <a:latin typeface="Aptos"/>
              </a:rP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815644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50" b="1" i="0">
                <a:solidFill>
                  <a:srgbClr val="004A2A"/>
                </a:solidFill>
                <a:latin typeface="Aptos"/>
              </a:rPr>
              <a:t>Resultados alcançados e próximos refinamentos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75488" y="932688"/>
            <a:ext cx="8174736" cy="0"/>
          </a:xfrm>
          <a:prstGeom prst="line">
            <a:avLst/>
          </a:prstGeom>
          <a:ln w="10160">
            <a:solidFill>
              <a:srgbClr val="D9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21792" y="1207008"/>
            <a:ext cx="438912" cy="438912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207008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4A2A"/>
                </a:solidFill>
                <a:latin typeface="Aptos"/>
              </a:rPr>
              <a:t>Protótipo integrado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517904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34454F"/>
                </a:solidFill>
                <a:latin typeface="Aptos"/>
              </a:rPr>
              <a:t>Sistema de recomendação, banco, interface, observabilidade e execução local/AWS.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2121408"/>
            <a:ext cx="438912" cy="438912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121408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4A2A"/>
                </a:solidFill>
                <a:latin typeface="Aptos"/>
              </a:rPr>
              <a:t>Evidência experimental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432304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34454F"/>
                </a:solidFill>
                <a:latin typeface="Aptos"/>
              </a:rPr>
              <a:t>36 cenários pareados quantificam ranking, dados, latência e disponibilidade.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3035808"/>
            <a:ext cx="438912" cy="438912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035808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4A2A"/>
                </a:solidFill>
                <a:latin typeface="Aptos"/>
              </a:rPr>
              <a:t>Conclusão científica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346704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34454F"/>
                </a:solidFill>
                <a:latin typeface="Aptos"/>
              </a:rPr>
              <a:t>A observabilidade melhora a recuperação, mas não substitui defesa específica nem métrica adequada.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1188720"/>
            <a:ext cx="3520440" cy="2761488"/>
          </a:xfrm>
          <a:prstGeom prst="roundRect">
            <a:avLst/>
          </a:prstGeom>
          <a:solidFill>
            <a:srgbClr val="F4F7F7"/>
          </a:solidFill>
          <a:ln w="10160">
            <a:solidFill>
              <a:srgbClr val="D9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148132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6633"/>
                </a:solidFill>
                <a:latin typeface="Aptos"/>
              </a:rPr>
              <a:t>PRÓXIMOS REFINAMENTOS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1938528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392" y="1865376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34454F"/>
                </a:solidFill>
                <a:latin typeface="Aptos"/>
              </a:rPr>
              <a:t>medir exposição e posição do item-alvo</a:t>
            </a:r>
          </a:p>
        </p:txBody>
      </p:sp>
      <p:sp>
        <p:nvSpPr>
          <p:cNvPr id="18" name="Oval 17"/>
          <p:cNvSpPr/>
          <p:nvPr/>
        </p:nvSpPr>
        <p:spPr>
          <a:xfrm>
            <a:off x="5212080" y="2286000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2212848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34454F"/>
                </a:solidFill>
                <a:latin typeface="Aptos"/>
              </a:rPr>
              <a:t>repetir seeds e calcular intervalos de confiança</a:t>
            </a:r>
          </a:p>
        </p:txBody>
      </p:sp>
      <p:sp>
        <p:nvSpPr>
          <p:cNvPr id="20" name="Oval 19"/>
          <p:cNvSpPr/>
          <p:nvPr/>
        </p:nvSpPr>
        <p:spPr>
          <a:xfrm>
            <a:off x="5212080" y="2633472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560320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34454F"/>
                </a:solidFill>
                <a:latin typeface="Aptos"/>
              </a:rPr>
              <a:t>melhorar fallback preservando personalização</a:t>
            </a:r>
          </a:p>
        </p:txBody>
      </p:sp>
      <p:sp>
        <p:nvSpPr>
          <p:cNvPr id="22" name="Oval 21"/>
          <p:cNvSpPr/>
          <p:nvPr/>
        </p:nvSpPr>
        <p:spPr>
          <a:xfrm>
            <a:off x="5212080" y="2980944"/>
            <a:ext cx="109728" cy="109728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2907791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34454F"/>
                </a:solidFill>
                <a:latin typeface="Aptos"/>
              </a:rPr>
              <a:t>completar correlação de logs e traces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187952"/>
            <a:ext cx="7699248" cy="347472"/>
          </a:xfrm>
          <a:prstGeom prst="roundRect">
            <a:avLst/>
          </a:prstGeom>
          <a:solidFill>
            <a:srgbClr val="EDF7E6"/>
          </a:solidFill>
          <a:ln w="10160">
            <a:solidFill>
              <a:srgbClr val="ED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279392"/>
            <a:ext cx="733348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4A2A"/>
                </a:solidFill>
                <a:latin typeface="Aptos"/>
              </a:rPr>
              <a:t>O sistema não apenas recomenda: ele permite demonstrar quando, por que e até que ponto a qualidade se recupera.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360" y="4041648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ptos"/>
              </a:rP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0" y="445312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1BD00"/>
                </a:solidFill>
                <a:latin typeface="Aptos"/>
              </a:rP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OESTE">
  <a:themeElements>
    <a:clrScheme name="UNOESTE">
      <a:dk1>
        <a:srgbClr val="004C00"/>
      </a:dk1>
      <a:lt1>
        <a:sysClr val="window" lastClr="FFFFFF"/>
      </a:lt1>
      <a:dk2>
        <a:srgbClr val="006600"/>
      </a:dk2>
      <a:lt2>
        <a:srgbClr val="D8D8D8"/>
      </a:lt2>
      <a:accent1>
        <a:srgbClr val="9BBB59"/>
      </a:accent1>
      <a:accent2>
        <a:srgbClr val="92D050"/>
      </a:accent2>
      <a:accent3>
        <a:srgbClr val="00B050"/>
      </a:accent3>
      <a:accent4>
        <a:srgbClr val="F79646"/>
      </a:accent4>
      <a:accent5>
        <a:srgbClr val="FFC000"/>
      </a:accent5>
      <a:accent6>
        <a:srgbClr val="FAC08F"/>
      </a:accent6>
      <a:hlink>
        <a:srgbClr val="FF9900"/>
      </a:hlink>
      <a:folHlink>
        <a:srgbClr val="CCFF66"/>
      </a:folHlink>
    </a:clrScheme>
    <a:fontScheme name="UNOESTE">
      <a:majorFont>
        <a:latin typeface="Helvetica65-Medium"/>
        <a:ea typeface=""/>
        <a:cs typeface=""/>
      </a:majorFont>
      <a:minorFont>
        <a:latin typeface="Helvetica"/>
        <a:ea typeface=""/>
        <a:cs typeface=""/>
      </a:minorFont>
    </a:fontScheme>
    <a:fmtScheme name="Costura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</TotalTime>
  <Words>7</Words>
  <Application>Microsoft Office PowerPoint</Application>
  <PresentationFormat>Apresentação na tela (16:9)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Helvetica</vt:lpstr>
      <vt:lpstr>Arial</vt:lpstr>
      <vt:lpstr>Helvetica65-Medium</vt:lpstr>
      <vt:lpstr>Calibri</vt:lpstr>
      <vt:lpstr>UNOESTE</vt:lpstr>
      <vt:lpstr>Título da Apresentação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Monitoramento de Qualidade dos Dados para Personalização de Recomendação de Produtos</dc:title>
  <dc:creator>Arthur Guarizi Gasparim</dc:creator>
  <cp:lastModifiedBy>82072</cp:lastModifiedBy>
  <cp:revision>27</cp:revision>
  <dcterms:created xsi:type="dcterms:W3CDTF">2015-03-27T12:49:42Z</dcterms:created>
  <dcterms:modified xsi:type="dcterms:W3CDTF">2020-12-01T18:41:13Z</dcterms:modified>
  <dc:subject>Apresentação final de iniciação científica</dc:subject>
  <dc:description>Gerado a partir do anteprojeto e do padrão institucional fornecidos.</dc:description>
</cp:coreProperties>
</file>