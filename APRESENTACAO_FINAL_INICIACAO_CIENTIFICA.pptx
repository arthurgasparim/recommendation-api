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C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l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i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q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u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e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p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a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r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a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m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o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v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e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r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o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s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l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i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d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e</a:t>
            </a: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357F908-E63C-429A-B72D-44FFA18168A2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20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segundos. Apresente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título, seu nome e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orientador. Antecipe que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trabalho integra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recomendação,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observabilidade 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experimentação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controlada.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5DD326-58E0-4998-88C4-34A9B58D411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50 segundos.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Explique que um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recomendador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pode continuar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respondendo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normalmente e,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ainda assim,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produzir listas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piores.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problema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científico é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tornar essa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degradação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visível 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acionável.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E032D7-A3CB-4EE4-82C2-EFA942DA28B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50 segundos. Leia a pergunta de pesquisa e resuma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os três verbos do trabalho: recomendar, observar e comparar.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Reforce que a contribuição é tanto técnica quanto experimental.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184C7B-D37F-4955-954A-5812921ABD3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sugerid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o: 55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segund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os.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Defina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os três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pilares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percorr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fluxo da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esquerd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 para 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direita.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Destaq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ue 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distinçã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central: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instrum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entação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é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passiva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;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ganho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qualida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ocorre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pela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ação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corretiv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orientad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 pelos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sinais.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ED9B65-D56C-4C0F-8A3D-8426DC81D53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sugerid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o: 65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segund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os. Não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leia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todas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definiçõ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es.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Expliqu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NDCG,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p95 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qualida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 dos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dados 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use as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demais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como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referênc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ia.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ponto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central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é que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relevân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cia,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dados 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operaçã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são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dimens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ões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diferent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590F1C-75B3-4586-91E6-E525D194175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sugerid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o: 65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segund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os.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Expliqu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 cada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técnica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em uma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frase.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Mostre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que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conteúd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teve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maior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NDCG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inicial,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item-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item 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maior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cobertur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 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populari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dade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funcion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ou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como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baselin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 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fallback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33ED86-26B7-4FB3-BDA5-B7FA9B024A8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50 segundos. Apresente o volume efetivamente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carregado após consolidação. Explique rapidamente o pipeline e cite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que a descoberta de duplicatas no dataset levou a uma correção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validada por teste de regressão.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B0FBA3-034A-41C6-A375-F7C7192C6DE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60 segundos. Percorra a requisição do usuário ao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banco. Mostre que o recomendador é reconstruído por revisão e que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Prometheus coleta métricas da API. Cite execução local com Docker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 implantação reproduzível em Kubernetes/EKS.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10E90D-E4A5-44EE-B41E-E9D1CD85E7C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45 segundos. Mostre a tela real e destaque que o usuário pode navegar pelo catálogo, avaliar livros e solicitar recomendações. Cite que autorização administrativa saiu do frontend e passou a ser validada no backend.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F13957-E13E-40CD-A4F4-AE130AFC60C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55 segundos. Apresente os testes e a escala dos dados. Reforce que o mesmo fluxo pode ser executado localmente e na AWS, e que a saída XLSX registra tanto qualidade quanto operação.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A6D492-0DA6-4D69-B602-44D61312814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60 segundos. Mostre que a comparação é pareada. O banco real origina um snapshot, mas cada ataque atua somente sobre uma cópia controlada. Isso torna o experimento repetível e seguro.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D17EB3-7EE2-4A8F-AD58-C3EEDAB93AF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65 segundos. Percorra a grade sem detalhar os resultados; os próximos slides fazem isso. Reforce que ataques de infraestrutura não precisam reduzir NDCG, e ataques ao alvo exigem métricas específicas de exposição.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D0B656-89DF-432F-9BAE-1141E09CC36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70 segundos. Explique o ganho artificial na média e o rollback. Seja explícito: NDCG inalterado não significa defesa perfeita; significa que a métrica atual não observa diretamente o objetivo do atacante. Essa é uma conclusão metodológica do experimento.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1BA074-662A-4C9E-8A95-8C6988CF5D8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65 segundos. Mostre a queda do score de qualidade e a perda de NDCG no modelo de conteúdo. A resposta é a quarentena, não uma alteração no algoritmo de recomendação.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6E2EE0-634E-45C9-873D-26EAAB615C8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65 segundos. Defina drift como mudança de distribuição. A média subiu de 3,822 para 4,182, o conteúdo perdeu 19,9% e o item-item zerou. O rollback recuperou o snapshot e as métricas.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D7C3F1-1EA0-43C9-9FF0-D5DA0F1B415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70 segundos. Explique p95 como cauda de latência. A defesa melhorou o cenário, mas não voltou ao baseline; por isso o resultado é parcial. O NDCG inalterado é esperado porque a lista continua igual, apenas mais lenta.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4002ED-1FA5-4168-833C-06C0D52EC99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70 segundos. Este é o trade-off mais importante: a defesa recupera a operação, mas a lista de popularidade não mantém a relevância dos modelos personalizados. Observabilidade revela essa troca; não a elimina automaticamente.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A33D18-32FB-4410-BBD3-4AEC7C634C6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65 segundos. Conteúdo teve maior NDCG inicial e item-item maior cobertura. Mostre a contagem de quedas, empates e uma melhora isolada. Explique que nem todo ataque deve reduzir NDCG e que uma oscilação positiva não torna dados corrompidos desejáveis.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6967FC-84D4-439A-AAA0-DF3B7E561DC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55 segundos. Este slide responde diretamente à pergunta de pesquisa. Destaque que a observabilidade teve benefícios diferentes: recuperação completa, parcial, operacional ou apenas diagnóstica.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81A011-1BCB-4E9B-8573-DE0BEF63970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60 segundos. Feche com as três entregas: sistema, experimento e conclusão científica. Os próximos refinamentos não anulam os resultados; aumentam a capacidade explicativa e a validade estatística.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29B6DD-809F-489A-A0F0-B56C3501F9D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Tempo sugerido: 10 segundos. Agradeça e abra para perguntas.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9064AA-01B4-4943-837A-A5697FD3C32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m 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90000" y="1653480"/>
            <a:ext cx="7164000" cy="183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4400" spc="-1" strike="noStrike">
                <a:solidFill>
                  <a:srgbClr val="ffffff">
                    <a:alpha val="95000"/>
                  </a:srgbClr>
                </a:solidFill>
                <a:latin typeface="Arial"/>
              </a:rPr>
              <a:t>Clique </a:t>
            </a:r>
            <a:r>
              <a:rPr b="1" lang="pt-BR" sz="4400" spc="-1" strike="noStrike">
                <a:solidFill>
                  <a:srgbClr val="ffffff">
                    <a:alpha val="95000"/>
                  </a:srgbClr>
                </a:solidFill>
                <a:latin typeface="Arial"/>
              </a:rPr>
              <a:t>para </a:t>
            </a:r>
            <a:r>
              <a:rPr b="1" lang="pt-BR" sz="4400" spc="-1" strike="noStrike">
                <a:solidFill>
                  <a:srgbClr val="ffffff">
                    <a:alpha val="95000"/>
                  </a:srgbClr>
                </a:solidFill>
                <a:latin typeface="Arial"/>
              </a:rPr>
              <a:t>editar o </a:t>
            </a:r>
            <a:r>
              <a:rPr b="1" lang="pt-BR" sz="4400" spc="-1" strike="noStrike">
                <a:solidFill>
                  <a:srgbClr val="ffffff">
                    <a:alpha val="95000"/>
                  </a:srgbClr>
                </a:solidFill>
                <a:latin typeface="Arial"/>
              </a:rPr>
              <a:t>título </a:t>
            </a:r>
            <a:r>
              <a:rPr b="1" lang="pt-BR" sz="4400" spc="-1" strike="noStrike">
                <a:solidFill>
                  <a:srgbClr val="ffffff">
                    <a:alpha val="95000"/>
                  </a:srgbClr>
                </a:solidFill>
                <a:latin typeface="Arial"/>
              </a:rPr>
              <a:t>mestre</a:t>
            </a: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4c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4c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4c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3.º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Clique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para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editar o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formato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do texto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do título</a:t>
            </a: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4c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4c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4c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3.º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m 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Clique para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editar o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formato do </a:t>
            </a:r>
            <a:r>
              <a:rPr b="0" lang="pt-BR" sz="4400" spc="-1" strike="noStrike">
                <a:solidFill>
                  <a:srgbClr val="004c00"/>
                </a:solidFill>
                <a:latin typeface="Arial"/>
              </a:rPr>
              <a:t>texto do título</a:t>
            </a:r>
            <a:endParaRPr b="0" lang="pt-BR" sz="44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4c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4c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rgbClr val="004c00"/>
                </a:solidFill>
                <a:latin typeface="Arial"/>
              </a:rPr>
              <a:t>2.º nível de tópicos</a:t>
            </a:r>
            <a:endParaRPr b="0" lang="pt-BR" sz="2400" spc="-1" strike="noStrike">
              <a:solidFill>
                <a:srgbClr val="004c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3.º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4c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4c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90000" y="1653480"/>
            <a:ext cx="7164000" cy="183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M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n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i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t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r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m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e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n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t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e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Q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u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l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i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e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s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s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p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r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endParaRPr b="0" lang="pt-BR" sz="3100" spc="-1" strike="noStrike">
              <a:solidFill>
                <a:srgbClr val="004c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</a:pP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P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e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r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s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n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l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i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z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ç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ã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e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R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e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c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m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e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n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a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ç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ã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e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 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P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r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d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u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t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o</a:t>
            </a:r>
            <a:r>
              <a:rPr b="1" lang="pt-BR" sz="3100" spc="-1" strike="noStrike">
                <a:solidFill>
                  <a:srgbClr val="ffffff"/>
                </a:solidFill>
                <a:latin typeface="Aptos Display"/>
              </a:rPr>
              <a:t>s</a:t>
            </a:r>
            <a:endParaRPr b="0" lang="pt-BR" sz="3100" spc="-1" strike="noStrike">
              <a:solidFill>
                <a:srgbClr val="004c00"/>
              </a:solidFill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2286000" y="39045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91bd00"/>
                </a:solidFill>
                <a:latin typeface="Aptos"/>
              </a:rPr>
              <a:t>Arthur Guarizi Gasparim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645920" y="4187880"/>
            <a:ext cx="5851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000" spc="-1" strike="noStrike">
                <a:solidFill>
                  <a:srgbClr val="ffffff"/>
                </a:solidFill>
                <a:latin typeface="Aptos"/>
              </a:rPr>
              <a:t>Orientador: Prof. Mário Augusto Pazoti  •  2026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INTRODUÇÃO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Por que observar sistemas de recomendação?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8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129" name="TextBox 4"/>
          <p:cNvSpPr/>
          <p:nvPr/>
        </p:nvSpPr>
        <p:spPr>
          <a:xfrm>
            <a:off x="594360" y="112464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900" spc="-1" strike="noStrike">
                <a:solidFill>
                  <a:srgbClr val="172433"/>
                </a:solidFill>
                <a:latin typeface="Aptos"/>
              </a:rPr>
              <a:t>A qualidade da recomendação depende diretamente da </a:t>
            </a:r>
            <a:r>
              <a:rPr b="1" lang="pt-BR" sz="1900" spc="-1" strike="noStrike">
                <a:solidFill>
                  <a:srgbClr val="006633"/>
                </a:solidFill>
                <a:latin typeface="Aptos"/>
              </a:rPr>
              <a:t>qualidade dos dados</a:t>
            </a:r>
            <a:r>
              <a:rPr b="0" lang="pt-BR" sz="1900" spc="-1" strike="noStrike">
                <a:solidFill>
                  <a:srgbClr val="172433"/>
                </a:solidFill>
                <a:latin typeface="Aptos"/>
              </a:rPr>
              <a:t> e da confiabilidade do sistema que os processa.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ounded Rectangle 5"/>
          <p:cNvSpPr/>
          <p:nvPr/>
        </p:nvSpPr>
        <p:spPr>
          <a:xfrm>
            <a:off x="530280" y="1719000"/>
            <a:ext cx="25142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31" name="Oval 6"/>
          <p:cNvSpPr/>
          <p:nvPr/>
        </p:nvSpPr>
        <p:spPr>
          <a:xfrm>
            <a:off x="694800" y="1901880"/>
            <a:ext cx="383760" cy="383760"/>
          </a:xfrm>
          <a:prstGeom prst="ellipse">
            <a:avLst/>
          </a:prstGeom>
          <a:solidFill>
            <a:srgbClr val="f4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1170360" y="187452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172433"/>
                </a:solidFill>
                <a:latin typeface="Aptos"/>
              </a:rPr>
              <a:t>Dados incorretos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713160" y="2359080"/>
            <a:ext cx="21484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8000"/>
              </a:lnSpc>
            </a:pPr>
            <a:r>
              <a:rPr b="0" lang="pt-BR" sz="1100" spc="-1" strike="noStrike">
                <a:solidFill>
                  <a:srgbClr val="707d84"/>
                </a:solidFill>
                <a:latin typeface="Aptos"/>
              </a:rPr>
              <a:t>Duplicatas, ausências e valores fora do domínio distorcem perfis e rankings.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9"/>
          <p:cNvSpPr/>
          <p:nvPr/>
        </p:nvSpPr>
        <p:spPr>
          <a:xfrm>
            <a:off x="3319200" y="1719000"/>
            <a:ext cx="25142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35" name="Oval 10"/>
          <p:cNvSpPr/>
          <p:nvPr/>
        </p:nvSpPr>
        <p:spPr>
          <a:xfrm>
            <a:off x="3483720" y="1901880"/>
            <a:ext cx="383760" cy="383760"/>
          </a:xfrm>
          <a:prstGeom prst="ellipse">
            <a:avLst/>
          </a:prstGeom>
          <a:solidFill>
            <a:srgbClr val="f4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3959280" y="187452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172433"/>
                </a:solidFill>
                <a:latin typeface="Aptos"/>
              </a:rPr>
              <a:t>Manipulação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3502080" y="2359080"/>
            <a:ext cx="21484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8000"/>
              </a:lnSpc>
            </a:pPr>
            <a:r>
              <a:rPr b="0" lang="pt-BR" sz="1100" spc="-1" strike="noStrike">
                <a:solidFill>
                  <a:srgbClr val="707d84"/>
                </a:solidFill>
                <a:latin typeface="Aptos"/>
              </a:rPr>
              <a:t>Avaliações artificiais podem promover ou prejudicar itens e reduzir a confiança.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13"/>
          <p:cNvSpPr/>
          <p:nvPr/>
        </p:nvSpPr>
        <p:spPr>
          <a:xfrm>
            <a:off x="6108120" y="1719000"/>
            <a:ext cx="2514240" cy="1572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39" name="Oval 14"/>
          <p:cNvSpPr/>
          <p:nvPr/>
        </p:nvSpPr>
        <p:spPr>
          <a:xfrm>
            <a:off x="6272640" y="1901880"/>
            <a:ext cx="383760" cy="38376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5"/>
          <p:cNvSpPr/>
          <p:nvPr/>
        </p:nvSpPr>
        <p:spPr>
          <a:xfrm>
            <a:off x="6748200" y="187452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172433"/>
                </a:solidFill>
                <a:latin typeface="Aptos"/>
              </a:rPr>
              <a:t>Falhas distribuídas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6291000" y="2359080"/>
            <a:ext cx="21484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8000"/>
              </a:lnSpc>
            </a:pPr>
            <a:r>
              <a:rPr b="0" lang="pt-BR" sz="1100" spc="-1" strike="noStrike">
                <a:solidFill>
                  <a:srgbClr val="707d84"/>
                </a:solidFill>
                <a:latin typeface="Aptos"/>
              </a:rPr>
              <a:t>Latência e indisponibilidade dificultam localizar a causa apenas pela interface.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17"/>
          <p:cNvSpPr/>
          <p:nvPr/>
        </p:nvSpPr>
        <p:spPr>
          <a:xfrm>
            <a:off x="658440" y="3584520"/>
            <a:ext cx="7826760" cy="54828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edf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43" name="TextBox 18"/>
          <p:cNvSpPr/>
          <p:nvPr/>
        </p:nvSpPr>
        <p:spPr>
          <a:xfrm>
            <a:off x="868680" y="3749040"/>
            <a:ext cx="1599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DEGRADAÇÃO SILENCIOSA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9"/>
          <p:cNvSpPr/>
          <p:nvPr/>
        </p:nvSpPr>
        <p:spPr>
          <a:xfrm>
            <a:off x="2423160" y="3675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22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2880360" y="373068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172433"/>
                </a:solidFill>
                <a:latin typeface="Aptos"/>
              </a:rPr>
              <a:t>recomendações menos relevantes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5010840" y="3675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22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5376600" y="373068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172433"/>
                </a:solidFill>
                <a:latin typeface="Aptos"/>
              </a:rPr>
              <a:t>piora da experiência e da confiança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INTRODUÇÃO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Objetivo e pergunta de pesquisa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0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151" name="Rounded Rectangle 4"/>
          <p:cNvSpPr/>
          <p:nvPr/>
        </p:nvSpPr>
        <p:spPr>
          <a:xfrm>
            <a:off x="658440" y="1170360"/>
            <a:ext cx="7817760" cy="93240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91bd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896040" y="134424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PERGUNTA DE PESQUISA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2240280" y="1280160"/>
            <a:ext cx="5806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4a2a"/>
                </a:solidFill>
                <a:latin typeface="Aptos"/>
              </a:rPr>
              <a:t>Como a observabilidade e o monitoramento da qualidade dos dados auxiliam na detecção de falhas e preservam a qualidade de sistemas de recomendação?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7"/>
          <p:cNvSpPr/>
          <p:nvPr/>
        </p:nvSpPr>
        <p:spPr>
          <a:xfrm>
            <a:off x="658440" y="2395800"/>
            <a:ext cx="2404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55" name="Rounded Rectangle 8"/>
          <p:cNvSpPr/>
          <p:nvPr/>
        </p:nvSpPr>
        <p:spPr>
          <a:xfrm>
            <a:off x="822960" y="2587680"/>
            <a:ext cx="1060200" cy="25560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edf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800" spc="-1" strike="noStrike">
                <a:solidFill>
                  <a:srgbClr val="006633"/>
                </a:solidFill>
                <a:latin typeface="Aptos"/>
              </a:rPr>
              <a:t>RECOMENDAR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9"/>
          <p:cNvSpPr/>
          <p:nvPr/>
        </p:nvSpPr>
        <p:spPr>
          <a:xfrm>
            <a:off x="822960" y="2980800"/>
            <a:ext cx="2057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34454f"/>
                </a:solidFill>
                <a:latin typeface="Aptos"/>
              </a:rPr>
              <a:t>Construir um sistema funcional com conteúdo e filtragem colaborativa.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ounded Rectangle 10"/>
          <p:cNvSpPr/>
          <p:nvPr/>
        </p:nvSpPr>
        <p:spPr>
          <a:xfrm>
            <a:off x="3319200" y="2395800"/>
            <a:ext cx="2404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58" name="Rounded Rectangle 11"/>
          <p:cNvSpPr/>
          <p:nvPr/>
        </p:nvSpPr>
        <p:spPr>
          <a:xfrm>
            <a:off x="3483720" y="2587680"/>
            <a:ext cx="1060200" cy="255600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0160">
            <a:solidFill>
              <a:srgbClr val="eaf3f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800" spc="-1" strike="noStrike">
                <a:solidFill>
                  <a:srgbClr val="044299"/>
                </a:solidFill>
                <a:latin typeface="Aptos"/>
              </a:rPr>
              <a:t>OBSERVAR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2"/>
          <p:cNvSpPr/>
          <p:nvPr/>
        </p:nvSpPr>
        <p:spPr>
          <a:xfrm>
            <a:off x="3483720" y="2980800"/>
            <a:ext cx="2057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34454f"/>
                </a:solidFill>
                <a:latin typeface="Aptos"/>
              </a:rPr>
              <a:t>Coletar sinais de aplicação, dados e infraestrutura para explicar degradações.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3"/>
          <p:cNvSpPr/>
          <p:nvPr/>
        </p:nvSpPr>
        <p:spPr>
          <a:xfrm>
            <a:off x="5980320" y="2395800"/>
            <a:ext cx="2404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61" name="Rounded Rectangle 14"/>
          <p:cNvSpPr/>
          <p:nvPr/>
        </p:nvSpPr>
        <p:spPr>
          <a:xfrm>
            <a:off x="6144840" y="2587680"/>
            <a:ext cx="1060200" cy="25560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edf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800" spc="-1" strike="noStrike">
                <a:solidFill>
                  <a:srgbClr val="7b61ff"/>
                </a:solidFill>
                <a:latin typeface="Aptos"/>
              </a:rPr>
              <a:t>COMPARAR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5"/>
          <p:cNvSpPr/>
          <p:nvPr/>
        </p:nvSpPr>
        <p:spPr>
          <a:xfrm>
            <a:off x="6144840" y="2980800"/>
            <a:ext cx="2057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34454f"/>
                </a:solidFill>
                <a:latin typeface="Aptos"/>
              </a:rPr>
              <a:t>Simular falhas no tempo e contrastar operação sem defesa e com resposta observável.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6"/>
          <p:cNvSpPr/>
          <p:nvPr/>
        </p:nvSpPr>
        <p:spPr>
          <a:xfrm>
            <a:off x="713160" y="391356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006633"/>
                </a:solidFill>
                <a:latin typeface="Aptos"/>
              </a:rPr>
              <a:t>Contribuição esperada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7"/>
          <p:cNvSpPr/>
          <p:nvPr/>
        </p:nvSpPr>
        <p:spPr>
          <a:xfrm>
            <a:off x="2057400" y="3886200"/>
            <a:ext cx="5988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172433"/>
                </a:solidFill>
                <a:latin typeface="Aptos"/>
              </a:rPr>
              <a:t>Um ambiente reproduzível para estudar qualidade, resiliência e custo da observabilidade em recomendadores.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OBSERVABILIDADE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Do sinal à recuperação da qualidade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7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168" name="Rounded Rectangle 4"/>
          <p:cNvSpPr/>
          <p:nvPr/>
        </p:nvSpPr>
        <p:spPr>
          <a:xfrm>
            <a:off x="658440" y="1234440"/>
            <a:ext cx="23954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69" name="Oval 5"/>
          <p:cNvSpPr/>
          <p:nvPr/>
        </p:nvSpPr>
        <p:spPr>
          <a:xfrm>
            <a:off x="822960" y="1444680"/>
            <a:ext cx="456840" cy="4568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ffffff"/>
                </a:solidFill>
                <a:latin typeface="Aptos Display"/>
              </a:rPr>
              <a:t>M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1408320" y="144468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72433"/>
                </a:solidFill>
                <a:latin typeface="Aptos"/>
              </a:rPr>
              <a:t>Métricas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7"/>
          <p:cNvSpPr/>
          <p:nvPr/>
        </p:nvSpPr>
        <p:spPr>
          <a:xfrm>
            <a:off x="841320" y="195696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50" spc="-1" strike="noStrike">
                <a:solidFill>
                  <a:srgbClr val="707d84"/>
                </a:solidFill>
                <a:latin typeface="Aptos"/>
              </a:rPr>
              <a:t>Tendências, SLOs, latência, erros e qualidade dos dados.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ounded Rectangle 8"/>
          <p:cNvSpPr/>
          <p:nvPr/>
        </p:nvSpPr>
        <p:spPr>
          <a:xfrm>
            <a:off x="3355920" y="1234440"/>
            <a:ext cx="23954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73" name="Oval 9"/>
          <p:cNvSpPr/>
          <p:nvPr/>
        </p:nvSpPr>
        <p:spPr>
          <a:xfrm>
            <a:off x="3520440" y="1444680"/>
            <a:ext cx="456840" cy="456840"/>
          </a:xfrm>
          <a:prstGeom prst="ellipse">
            <a:avLst/>
          </a:prstGeom>
          <a:solidFill>
            <a:srgbClr val="04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ffffff"/>
                </a:solidFill>
                <a:latin typeface="Aptos Display"/>
              </a:rPr>
              <a:t>L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4105800" y="144468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72433"/>
                </a:solidFill>
                <a:latin typeface="Aptos"/>
              </a:rPr>
              <a:t>Logs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3538800" y="195696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50" spc="-1" strike="noStrike">
                <a:solidFill>
                  <a:srgbClr val="707d84"/>
                </a:solidFill>
                <a:latin typeface="Aptos"/>
              </a:rPr>
              <a:t>Contexto detalhado de eventos, versões e causas prováveis.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ounded Rectangle 12"/>
          <p:cNvSpPr/>
          <p:nvPr/>
        </p:nvSpPr>
        <p:spPr>
          <a:xfrm>
            <a:off x="6053400" y="1234440"/>
            <a:ext cx="23954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77" name="Oval 13"/>
          <p:cNvSpPr/>
          <p:nvPr/>
        </p:nvSpPr>
        <p:spPr>
          <a:xfrm>
            <a:off x="6217920" y="1444680"/>
            <a:ext cx="456840" cy="45684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ffffff"/>
                </a:solidFill>
                <a:latin typeface="Aptos Display"/>
              </a:rPr>
              <a:t>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4"/>
          <p:cNvSpPr/>
          <p:nvPr/>
        </p:nvSpPr>
        <p:spPr>
          <a:xfrm>
            <a:off x="6803280" y="144468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172433"/>
                </a:solidFill>
                <a:latin typeface="Aptos"/>
              </a:rPr>
              <a:t>Tracing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5"/>
          <p:cNvSpPr/>
          <p:nvPr/>
        </p:nvSpPr>
        <p:spPr>
          <a:xfrm>
            <a:off x="6236280" y="1956960"/>
            <a:ext cx="2029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50" spc="-1" strike="noStrike">
                <a:solidFill>
                  <a:srgbClr val="707d84"/>
                </a:solidFill>
                <a:latin typeface="Aptos"/>
              </a:rPr>
              <a:t>Caminho da requisição entre API, banco e inferência.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16"/>
          <p:cNvSpPr/>
          <p:nvPr/>
        </p:nvSpPr>
        <p:spPr>
          <a:xfrm>
            <a:off x="493920" y="3063240"/>
            <a:ext cx="1444320" cy="71280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81" name="TextBox 17"/>
          <p:cNvSpPr/>
          <p:nvPr/>
        </p:nvSpPr>
        <p:spPr>
          <a:xfrm>
            <a:off x="567000" y="320040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SINAL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8"/>
          <p:cNvSpPr/>
          <p:nvPr/>
        </p:nvSpPr>
        <p:spPr>
          <a:xfrm>
            <a:off x="567000" y="3456360"/>
            <a:ext cx="1298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mudança medida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19"/>
          <p:cNvSpPr/>
          <p:nvPr/>
        </p:nvSpPr>
        <p:spPr>
          <a:xfrm>
            <a:off x="1938600" y="3246120"/>
            <a:ext cx="23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20"/>
          <p:cNvSpPr/>
          <p:nvPr/>
        </p:nvSpPr>
        <p:spPr>
          <a:xfrm>
            <a:off x="2176200" y="3063240"/>
            <a:ext cx="1444320" cy="71280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85" name="TextBox 21"/>
          <p:cNvSpPr/>
          <p:nvPr/>
        </p:nvSpPr>
        <p:spPr>
          <a:xfrm>
            <a:off x="2249280" y="320040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DETECÇÃO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22"/>
          <p:cNvSpPr/>
          <p:nvPr/>
        </p:nvSpPr>
        <p:spPr>
          <a:xfrm>
            <a:off x="2249280" y="3456360"/>
            <a:ext cx="1298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alerta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23"/>
          <p:cNvSpPr/>
          <p:nvPr/>
        </p:nvSpPr>
        <p:spPr>
          <a:xfrm>
            <a:off x="3620880" y="3246120"/>
            <a:ext cx="23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ounded Rectangle 24"/>
          <p:cNvSpPr/>
          <p:nvPr/>
        </p:nvSpPr>
        <p:spPr>
          <a:xfrm>
            <a:off x="3858840" y="3063240"/>
            <a:ext cx="1444320" cy="71280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89" name="TextBox 25"/>
          <p:cNvSpPr/>
          <p:nvPr/>
        </p:nvSpPr>
        <p:spPr>
          <a:xfrm>
            <a:off x="3931920" y="320040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DIAGNÓSTICO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6"/>
          <p:cNvSpPr/>
          <p:nvPr/>
        </p:nvSpPr>
        <p:spPr>
          <a:xfrm>
            <a:off x="3931920" y="3456360"/>
            <a:ext cx="1298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causa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27"/>
          <p:cNvSpPr/>
          <p:nvPr/>
        </p:nvSpPr>
        <p:spPr>
          <a:xfrm>
            <a:off x="5303520" y="3246120"/>
            <a:ext cx="23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ounded Rectangle 28"/>
          <p:cNvSpPr/>
          <p:nvPr/>
        </p:nvSpPr>
        <p:spPr>
          <a:xfrm>
            <a:off x="5541120" y="3063240"/>
            <a:ext cx="1444320" cy="71280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93" name="TextBox 29"/>
          <p:cNvSpPr/>
          <p:nvPr/>
        </p:nvSpPr>
        <p:spPr>
          <a:xfrm>
            <a:off x="5614560" y="320040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0"/>
          <p:cNvSpPr/>
          <p:nvPr/>
        </p:nvSpPr>
        <p:spPr>
          <a:xfrm>
            <a:off x="5614560" y="3456360"/>
            <a:ext cx="1298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bloqueio / rollback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31"/>
          <p:cNvSpPr/>
          <p:nvPr/>
        </p:nvSpPr>
        <p:spPr>
          <a:xfrm>
            <a:off x="6986160" y="3246120"/>
            <a:ext cx="23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32"/>
          <p:cNvSpPr/>
          <p:nvPr/>
        </p:nvSpPr>
        <p:spPr>
          <a:xfrm>
            <a:off x="7223760" y="3063240"/>
            <a:ext cx="1444320" cy="71280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97" name="TextBox 33"/>
          <p:cNvSpPr/>
          <p:nvPr/>
        </p:nvSpPr>
        <p:spPr>
          <a:xfrm>
            <a:off x="7296840" y="320040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RECUPERAÇÃO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34"/>
          <p:cNvSpPr/>
          <p:nvPr/>
        </p:nvSpPr>
        <p:spPr>
          <a:xfrm>
            <a:off x="7296840" y="3456360"/>
            <a:ext cx="1298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qualidade restaurada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35"/>
          <p:cNvSpPr/>
          <p:nvPr/>
        </p:nvSpPr>
        <p:spPr>
          <a:xfrm>
            <a:off x="868680" y="3968640"/>
            <a:ext cx="7406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4a2a"/>
                </a:solidFill>
                <a:latin typeface="Aptos"/>
              </a:rPr>
              <a:t>Observabilidade não melhora o algoritmo sozinha; ela reduz o tempo de exposição ao problema ao orientar a resposta.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MÉTRICAS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Como a qualidade e a operação são medidas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2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203" name="Rounded Rectangle 4"/>
          <p:cNvSpPr/>
          <p:nvPr/>
        </p:nvSpPr>
        <p:spPr>
          <a:xfrm>
            <a:off x="438840" y="1170360"/>
            <a:ext cx="19929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585360" y="132588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NDCG@10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585360" y="163692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</a:pPr>
            <a:r>
              <a:rPr b="0" lang="pt-BR" sz="860" spc="-1" strike="noStrike">
                <a:solidFill>
                  <a:srgbClr val="34454f"/>
                </a:solidFill>
                <a:latin typeface="Aptos"/>
              </a:rPr>
              <a:t>Relevância do Top-10, dando mais peso aos acertos nas primeiras posições.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ounded Rectangle 7"/>
          <p:cNvSpPr/>
          <p:nvPr/>
        </p:nvSpPr>
        <p:spPr>
          <a:xfrm>
            <a:off x="2615040" y="1170360"/>
            <a:ext cx="19929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2761560" y="132588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Precision@10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9"/>
          <p:cNvSpPr/>
          <p:nvPr/>
        </p:nvSpPr>
        <p:spPr>
          <a:xfrm>
            <a:off x="2761560" y="163692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</a:pPr>
            <a:r>
              <a:rPr b="0" lang="pt-BR" sz="860" spc="-1" strike="noStrike">
                <a:solidFill>
                  <a:srgbClr val="34454f"/>
                </a:solidFill>
                <a:latin typeface="Aptos"/>
              </a:rPr>
              <a:t>Parcela dos 10 itens recomendados que é relevante para o usuário.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ounded Rectangle 10"/>
          <p:cNvSpPr/>
          <p:nvPr/>
        </p:nvSpPr>
        <p:spPr>
          <a:xfrm>
            <a:off x="4791600" y="1170360"/>
            <a:ext cx="19929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0" name="TextBox 11"/>
          <p:cNvSpPr/>
          <p:nvPr/>
        </p:nvSpPr>
        <p:spPr>
          <a:xfrm>
            <a:off x="4937760" y="132588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7b61ff"/>
                </a:solidFill>
                <a:latin typeface="Aptos"/>
              </a:rPr>
              <a:t>Recall@10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12"/>
          <p:cNvSpPr/>
          <p:nvPr/>
        </p:nvSpPr>
        <p:spPr>
          <a:xfrm>
            <a:off x="4937760" y="163692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</a:pPr>
            <a:r>
              <a:rPr b="0" lang="pt-BR" sz="860" spc="-1" strike="noStrike">
                <a:solidFill>
                  <a:srgbClr val="34454f"/>
                </a:solidFill>
                <a:latin typeface="Aptos"/>
              </a:rPr>
              <a:t>Parcela dos itens relevantes que aparece entre as 10 recomendações.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ounded Rectangle 13"/>
          <p:cNvSpPr/>
          <p:nvPr/>
        </p:nvSpPr>
        <p:spPr>
          <a:xfrm>
            <a:off x="6967800" y="1170360"/>
            <a:ext cx="19929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3" name="TextBox 14"/>
          <p:cNvSpPr/>
          <p:nvPr/>
        </p:nvSpPr>
        <p:spPr>
          <a:xfrm>
            <a:off x="7113960" y="132588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Hit Rate@10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15"/>
          <p:cNvSpPr/>
          <p:nvPr/>
        </p:nvSpPr>
        <p:spPr>
          <a:xfrm>
            <a:off x="7113960" y="163692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</a:pPr>
            <a:r>
              <a:rPr b="0" lang="pt-BR" sz="860" spc="-1" strike="noStrike">
                <a:solidFill>
                  <a:srgbClr val="34454f"/>
                </a:solidFill>
                <a:latin typeface="Aptos"/>
              </a:rPr>
              <a:t>Percentual de usuários que recebe ao menos um item relevante no Top-10.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16"/>
          <p:cNvSpPr/>
          <p:nvPr/>
        </p:nvSpPr>
        <p:spPr>
          <a:xfrm>
            <a:off x="438840" y="2578680"/>
            <a:ext cx="19929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4a2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6" name="TextBox 17"/>
          <p:cNvSpPr/>
          <p:nvPr/>
        </p:nvSpPr>
        <p:spPr>
          <a:xfrm>
            <a:off x="585360" y="27342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4a2a"/>
                </a:solidFill>
                <a:latin typeface="Aptos"/>
              </a:rPr>
              <a:t>Cobertura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18"/>
          <p:cNvSpPr/>
          <p:nvPr/>
        </p:nvSpPr>
        <p:spPr>
          <a:xfrm>
            <a:off x="585360" y="304488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</a:pPr>
            <a:r>
              <a:rPr b="0" lang="pt-BR" sz="860" spc="-1" strike="noStrike">
                <a:solidFill>
                  <a:srgbClr val="34454f"/>
                </a:solidFill>
                <a:latin typeface="Aptos"/>
              </a:rPr>
              <a:t>Fração do catálogo que aparece nas recomendações; indica diversidade de exposição.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19"/>
          <p:cNvSpPr/>
          <p:nvPr/>
        </p:nvSpPr>
        <p:spPr>
          <a:xfrm>
            <a:off x="2615040" y="2578680"/>
            <a:ext cx="19929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9" name="TextBox 20"/>
          <p:cNvSpPr/>
          <p:nvPr/>
        </p:nvSpPr>
        <p:spPr>
          <a:xfrm>
            <a:off x="2761560" y="27342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Latência p95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21"/>
          <p:cNvSpPr/>
          <p:nvPr/>
        </p:nvSpPr>
        <p:spPr>
          <a:xfrm>
            <a:off x="2761560" y="304488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</a:pPr>
            <a:r>
              <a:rPr b="0" lang="pt-BR" sz="860" spc="-1" strike="noStrike">
                <a:solidFill>
                  <a:srgbClr val="34454f"/>
                </a:solidFill>
                <a:latin typeface="Aptos"/>
              </a:rPr>
              <a:t>Tempo abaixo do qual terminam 95% das requisições; evidencia a cauda lenta.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22"/>
          <p:cNvSpPr/>
          <p:nvPr/>
        </p:nvSpPr>
        <p:spPr>
          <a:xfrm>
            <a:off x="4791600" y="2578680"/>
            <a:ext cx="19929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22" name="TextBox 23"/>
          <p:cNvSpPr/>
          <p:nvPr/>
        </p:nvSpPr>
        <p:spPr>
          <a:xfrm>
            <a:off x="4937760" y="27342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Disponibilidade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24"/>
          <p:cNvSpPr/>
          <p:nvPr/>
        </p:nvSpPr>
        <p:spPr>
          <a:xfrm>
            <a:off x="4937760" y="304488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</a:pPr>
            <a:r>
              <a:rPr b="0" lang="pt-BR" sz="860" spc="-1" strike="noStrike">
                <a:solidFill>
                  <a:srgbClr val="34454f"/>
                </a:solidFill>
                <a:latin typeface="Aptos"/>
              </a:rPr>
              <a:t>Percentual de requisições concluídas com sucesso durante o cenário.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ounded Rectangle 25"/>
          <p:cNvSpPr/>
          <p:nvPr/>
        </p:nvSpPr>
        <p:spPr>
          <a:xfrm>
            <a:off x="6967800" y="2578680"/>
            <a:ext cx="199296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25" name="TextBox 26"/>
          <p:cNvSpPr/>
          <p:nvPr/>
        </p:nvSpPr>
        <p:spPr>
          <a:xfrm>
            <a:off x="7113960" y="2734200"/>
            <a:ext cx="170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7b61ff"/>
                </a:solidFill>
                <a:latin typeface="Aptos"/>
              </a:rPr>
              <a:t>Qualidade dos dados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27"/>
          <p:cNvSpPr/>
          <p:nvPr/>
        </p:nvSpPr>
        <p:spPr>
          <a:xfrm>
            <a:off x="7113960" y="304488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</a:pPr>
            <a:r>
              <a:rPr b="0" lang="pt-BR" sz="860" spc="-1" strike="noStrike">
                <a:solidFill>
                  <a:srgbClr val="34454f"/>
                </a:solidFill>
                <a:latin typeface="Aptos"/>
              </a:rPr>
              <a:t>Score composto por domínio válido, integridade referencial e unicidade.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28"/>
          <p:cNvSpPr/>
          <p:nvPr/>
        </p:nvSpPr>
        <p:spPr>
          <a:xfrm>
            <a:off x="658440" y="4087440"/>
            <a:ext cx="7826760" cy="39276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edf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28" name="TextBox 29"/>
          <p:cNvSpPr/>
          <p:nvPr/>
        </p:nvSpPr>
        <p:spPr>
          <a:xfrm>
            <a:off x="868680" y="4197240"/>
            <a:ext cx="7406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004a2a"/>
                </a:solidFill>
                <a:latin typeface="Aptos"/>
              </a:rPr>
              <a:t>Princípio usado: cada ataque é avaliado pela métrica que ele realmente pretende degradar.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RECOMENDAÇÃO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Três modelos executados na bateria real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1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232" name="Rounded Rectangle 4"/>
          <p:cNvSpPr/>
          <p:nvPr/>
        </p:nvSpPr>
        <p:spPr>
          <a:xfrm>
            <a:off x="502920" y="1207080"/>
            <a:ext cx="2532600" cy="2614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33" name="Oval 5"/>
          <p:cNvSpPr/>
          <p:nvPr/>
        </p:nvSpPr>
        <p:spPr>
          <a:xfrm>
            <a:off x="685800" y="1426320"/>
            <a:ext cx="383760" cy="383760"/>
          </a:xfrm>
          <a:prstGeom prst="ellipse">
            <a:avLst/>
          </a:prstGeom>
          <a:solidFill>
            <a:srgbClr val="f4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ffffff"/>
                </a:solidFill>
                <a:latin typeface="Aptos Display"/>
              </a:rPr>
              <a:t>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1197720" y="139896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172433"/>
                </a:solidFill>
                <a:latin typeface="Aptos"/>
              </a:rPr>
              <a:t>Popularidade regularizada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685800" y="2048400"/>
            <a:ext cx="216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Baseline que ordena itens pela popularidade, com regularização para reduzir o efeito de poucos votos.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8"/>
          <p:cNvSpPr/>
          <p:nvPr/>
        </p:nvSpPr>
        <p:spPr>
          <a:xfrm>
            <a:off x="685800" y="2788920"/>
            <a:ext cx="216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850" spc="-1" strike="noStrike">
                <a:solidFill>
                  <a:srgbClr val="707d84"/>
                </a:solidFill>
                <a:latin typeface="Aptos"/>
              </a:rPr>
              <a:t>Lista global; não personaliza por perfil.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9"/>
          <p:cNvSpPr/>
          <p:nvPr/>
        </p:nvSpPr>
        <p:spPr>
          <a:xfrm>
            <a:off x="685800" y="324612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f4872d"/>
                </a:solidFill>
                <a:latin typeface="Aptos"/>
              </a:rPr>
              <a:t>NDCG inicial  0.000000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685800" y="3511440"/>
            <a:ext cx="214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707d84"/>
                </a:solidFill>
                <a:latin typeface="Aptos"/>
              </a:rPr>
              <a:t>Cobertura inicial  0.0011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ounded Rectangle 11"/>
          <p:cNvSpPr/>
          <p:nvPr/>
        </p:nvSpPr>
        <p:spPr>
          <a:xfrm>
            <a:off x="3319200" y="1207080"/>
            <a:ext cx="2532600" cy="2614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40" name="Oval 12"/>
          <p:cNvSpPr/>
          <p:nvPr/>
        </p:nvSpPr>
        <p:spPr>
          <a:xfrm>
            <a:off x="3502080" y="1426320"/>
            <a:ext cx="383760" cy="383760"/>
          </a:xfrm>
          <a:prstGeom prst="ellipse">
            <a:avLst/>
          </a:prstGeom>
          <a:solidFill>
            <a:srgbClr val="04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ffffff"/>
                </a:solidFill>
                <a:latin typeface="Aptos Display"/>
              </a:rPr>
              <a:t>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13"/>
          <p:cNvSpPr/>
          <p:nvPr/>
        </p:nvSpPr>
        <p:spPr>
          <a:xfrm>
            <a:off x="4014360" y="139896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172433"/>
                </a:solidFill>
                <a:latin typeface="Aptos"/>
              </a:rPr>
              <a:t>Conteúdo por tags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14"/>
          <p:cNvSpPr/>
          <p:nvPr/>
        </p:nvSpPr>
        <p:spPr>
          <a:xfrm>
            <a:off x="3502080" y="2048400"/>
            <a:ext cx="216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Representa tags por TF-IDF e usa similaridade de cosseno com o histórico do usuário.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15"/>
          <p:cNvSpPr/>
          <p:nvPr/>
        </p:nvSpPr>
        <p:spPr>
          <a:xfrm>
            <a:off x="3502080" y="2788920"/>
            <a:ext cx="216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850" spc="-1" strike="noStrike">
                <a:solidFill>
                  <a:srgbClr val="707d84"/>
                </a:solidFill>
                <a:latin typeface="Aptos"/>
              </a:rPr>
              <a:t>Responde às características dos livros.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16"/>
          <p:cNvSpPr/>
          <p:nvPr/>
        </p:nvSpPr>
        <p:spPr>
          <a:xfrm>
            <a:off x="3502080" y="324612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044299"/>
                </a:solidFill>
                <a:latin typeface="Aptos"/>
              </a:rPr>
              <a:t>NDCG inicial  0.032474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17"/>
          <p:cNvSpPr/>
          <p:nvPr/>
        </p:nvSpPr>
        <p:spPr>
          <a:xfrm>
            <a:off x="3502080" y="3511440"/>
            <a:ext cx="214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707d84"/>
                </a:solidFill>
                <a:latin typeface="Aptos"/>
              </a:rPr>
              <a:t>Cobertura inicial  0.0815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ounded Rectangle 18"/>
          <p:cNvSpPr/>
          <p:nvPr/>
        </p:nvSpPr>
        <p:spPr>
          <a:xfrm>
            <a:off x="6135480" y="1207080"/>
            <a:ext cx="2532600" cy="2614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47" name="Oval 19"/>
          <p:cNvSpPr/>
          <p:nvPr/>
        </p:nvSpPr>
        <p:spPr>
          <a:xfrm>
            <a:off x="6318360" y="1426320"/>
            <a:ext cx="383760" cy="38376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ffffff"/>
                </a:solidFill>
                <a:latin typeface="Aptos Display"/>
              </a:rPr>
              <a:t>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20"/>
          <p:cNvSpPr/>
          <p:nvPr/>
        </p:nvSpPr>
        <p:spPr>
          <a:xfrm>
            <a:off x="6830640" y="139896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172433"/>
                </a:solidFill>
                <a:latin typeface="Aptos"/>
              </a:rPr>
              <a:t>Colaborativo item-item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21"/>
          <p:cNvSpPr/>
          <p:nvPr/>
        </p:nvSpPr>
        <p:spPr>
          <a:xfrm>
            <a:off x="6318360" y="2048400"/>
            <a:ext cx="2166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Compara colunas da matriz usuário–item para encontrar livros avaliados de forma semelhante.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22"/>
          <p:cNvSpPr/>
          <p:nvPr/>
        </p:nvSpPr>
        <p:spPr>
          <a:xfrm>
            <a:off x="6318360" y="2788920"/>
            <a:ext cx="216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850" spc="-1" strike="noStrike">
                <a:solidFill>
                  <a:srgbClr val="707d84"/>
                </a:solidFill>
                <a:latin typeface="Aptos"/>
              </a:rPr>
              <a:t>Responde ao comportamento coletivo.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23"/>
          <p:cNvSpPr/>
          <p:nvPr/>
        </p:nvSpPr>
        <p:spPr>
          <a:xfrm>
            <a:off x="6318360" y="324612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7b61ff"/>
                </a:solidFill>
                <a:latin typeface="Aptos"/>
              </a:rPr>
              <a:t>NDCG inicial  0.009643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24"/>
          <p:cNvSpPr/>
          <p:nvPr/>
        </p:nvSpPr>
        <p:spPr>
          <a:xfrm>
            <a:off x="6318360" y="3511440"/>
            <a:ext cx="2148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707d84"/>
                </a:solidFill>
                <a:latin typeface="Aptos"/>
              </a:rPr>
              <a:t>Cobertura inicial  0.0938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25"/>
          <p:cNvSpPr/>
          <p:nvPr/>
        </p:nvSpPr>
        <p:spPr>
          <a:xfrm>
            <a:off x="658440" y="4151520"/>
            <a:ext cx="781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20" spc="-1" strike="noStrike">
                <a:solidFill>
                  <a:srgbClr val="004a2a"/>
                </a:solidFill>
                <a:latin typeface="Aptos"/>
              </a:rPr>
              <a:t>TF-IDF: destaca tags características.  •  Cosseno: mede a proximidade entre vetores.  •  Regularização: reduz extremos com pouca evidência.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26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bateria experimental medida em 19/10/2026 — condição inicial, Top-10.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IMPLEMENTAÇÃO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Dados e pipeline do sistema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493920" y="831960"/>
            <a:ext cx="8092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707d84"/>
                </a:solidFill>
                <a:latin typeface="Aptos"/>
              </a:rPr>
              <a:t>Base Goodbooks normalizada e carregada no banco local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8" name="Connector 4"/>
          <p:cNvCxnSpPr/>
          <p:nvPr/>
        </p:nvCxnSpPr>
        <p:spPr>
          <a:xfrm>
            <a:off x="475200" y="108792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259" name="Rounded Rectangle 5"/>
          <p:cNvSpPr/>
          <p:nvPr/>
        </p:nvSpPr>
        <p:spPr>
          <a:xfrm>
            <a:off x="438840" y="1298520"/>
            <a:ext cx="1517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60" name="TextBox 6"/>
          <p:cNvSpPr/>
          <p:nvPr/>
        </p:nvSpPr>
        <p:spPr>
          <a:xfrm>
            <a:off x="530280" y="1454040"/>
            <a:ext cx="133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06633"/>
                </a:solidFill>
                <a:latin typeface="Aptos"/>
              </a:rPr>
              <a:t>10.000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511920" y="179208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livros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2139840" y="1298520"/>
            <a:ext cx="1517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63" name="TextBox 9"/>
          <p:cNvSpPr/>
          <p:nvPr/>
        </p:nvSpPr>
        <p:spPr>
          <a:xfrm>
            <a:off x="2231280" y="1454040"/>
            <a:ext cx="133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44299"/>
                </a:solidFill>
                <a:latin typeface="Aptos"/>
              </a:rPr>
              <a:t>979.478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2212920" y="179208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avaliações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ounded Rectangle 11"/>
          <p:cNvSpPr/>
          <p:nvPr/>
        </p:nvSpPr>
        <p:spPr>
          <a:xfrm>
            <a:off x="3840480" y="1298520"/>
            <a:ext cx="1517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66" name="TextBox 12"/>
          <p:cNvSpPr/>
          <p:nvPr/>
        </p:nvSpPr>
        <p:spPr>
          <a:xfrm>
            <a:off x="3931920" y="1454040"/>
            <a:ext cx="133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7b61ff"/>
                </a:solidFill>
                <a:latin typeface="Aptos"/>
              </a:rPr>
              <a:t>34.252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13"/>
          <p:cNvSpPr/>
          <p:nvPr/>
        </p:nvSpPr>
        <p:spPr>
          <a:xfrm>
            <a:off x="3913560" y="179208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tags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ounded Rectangle 14"/>
          <p:cNvSpPr/>
          <p:nvPr/>
        </p:nvSpPr>
        <p:spPr>
          <a:xfrm>
            <a:off x="5541120" y="1298520"/>
            <a:ext cx="1517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5632560" y="1454040"/>
            <a:ext cx="133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f4872d"/>
                </a:solidFill>
                <a:latin typeface="Aptos"/>
              </a:rPr>
              <a:t>999.904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16"/>
          <p:cNvSpPr/>
          <p:nvPr/>
        </p:nvSpPr>
        <p:spPr>
          <a:xfrm>
            <a:off x="5614560" y="179208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relações livro–tag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ounded Rectangle 17"/>
          <p:cNvSpPr/>
          <p:nvPr/>
        </p:nvSpPr>
        <p:spPr>
          <a:xfrm>
            <a:off x="7242120" y="1298520"/>
            <a:ext cx="1517400" cy="78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72" name="TextBox 18"/>
          <p:cNvSpPr/>
          <p:nvPr/>
        </p:nvSpPr>
        <p:spPr>
          <a:xfrm>
            <a:off x="7333560" y="1454040"/>
            <a:ext cx="133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04a2a"/>
                </a:solidFill>
                <a:latin typeface="Aptos"/>
              </a:rPr>
              <a:t>912.705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19"/>
          <p:cNvSpPr/>
          <p:nvPr/>
        </p:nvSpPr>
        <p:spPr>
          <a:xfrm>
            <a:off x="7315200" y="179208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itens “quero ler”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Oval 20"/>
          <p:cNvSpPr/>
          <p:nvPr/>
        </p:nvSpPr>
        <p:spPr>
          <a:xfrm>
            <a:off x="511920" y="2587680"/>
            <a:ext cx="365400" cy="36540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21"/>
          <p:cNvSpPr/>
          <p:nvPr/>
        </p:nvSpPr>
        <p:spPr>
          <a:xfrm>
            <a:off x="255960" y="3054240"/>
            <a:ext cx="89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CSV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22"/>
          <p:cNvSpPr/>
          <p:nvPr/>
        </p:nvSpPr>
        <p:spPr>
          <a:xfrm>
            <a:off x="311040" y="3319200"/>
            <a:ext cx="78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707d84"/>
                </a:solidFill>
                <a:latin typeface="Aptos"/>
              </a:rPr>
              <a:t>entrada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7" name="Connector 23"/>
          <p:cNvCxnSpPr/>
          <p:nvPr/>
        </p:nvCxnSpPr>
        <p:spPr>
          <a:xfrm>
            <a:off x="905040" y="2770560"/>
            <a:ext cx="905760" cy="360"/>
          </a:xfrm>
          <a:prstGeom prst="straightConnector1">
            <a:avLst/>
          </a:prstGeom>
          <a:ln w="16510">
            <a:solidFill>
              <a:srgbClr val="d9e3e3"/>
            </a:solidFill>
            <a:round/>
          </a:ln>
        </p:spPr>
      </p:cxnSp>
      <p:sp>
        <p:nvSpPr>
          <p:cNvPr id="278" name="Oval 24"/>
          <p:cNvSpPr/>
          <p:nvPr/>
        </p:nvSpPr>
        <p:spPr>
          <a:xfrm>
            <a:off x="1883520" y="2587680"/>
            <a:ext cx="365400" cy="36540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25"/>
          <p:cNvSpPr/>
          <p:nvPr/>
        </p:nvSpPr>
        <p:spPr>
          <a:xfrm>
            <a:off x="1627560" y="3054240"/>
            <a:ext cx="89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Validação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26"/>
          <p:cNvSpPr/>
          <p:nvPr/>
        </p:nvSpPr>
        <p:spPr>
          <a:xfrm>
            <a:off x="1682640" y="3319200"/>
            <a:ext cx="78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707d84"/>
                </a:solidFill>
                <a:latin typeface="Aptos"/>
              </a:rPr>
              <a:t>tipos e domínio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1" name="Connector 27"/>
          <p:cNvCxnSpPr/>
          <p:nvPr/>
        </p:nvCxnSpPr>
        <p:spPr>
          <a:xfrm>
            <a:off x="2276640" y="2770560"/>
            <a:ext cx="905760" cy="360"/>
          </a:xfrm>
          <a:prstGeom prst="straightConnector1">
            <a:avLst/>
          </a:prstGeom>
          <a:ln w="16510">
            <a:solidFill>
              <a:srgbClr val="d9e3e3"/>
            </a:solidFill>
            <a:round/>
          </a:ln>
        </p:spPr>
      </p:cxnSp>
      <p:sp>
        <p:nvSpPr>
          <p:cNvPr id="282" name="Oval 28"/>
          <p:cNvSpPr/>
          <p:nvPr/>
        </p:nvSpPr>
        <p:spPr>
          <a:xfrm>
            <a:off x="3255120" y="2587680"/>
            <a:ext cx="365400" cy="36540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29"/>
          <p:cNvSpPr/>
          <p:nvPr/>
        </p:nvSpPr>
        <p:spPr>
          <a:xfrm>
            <a:off x="2999160" y="3054240"/>
            <a:ext cx="89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Consolidar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30"/>
          <p:cNvSpPr/>
          <p:nvPr/>
        </p:nvSpPr>
        <p:spPr>
          <a:xfrm>
            <a:off x="3054240" y="3319200"/>
            <a:ext cx="78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707d84"/>
                </a:solidFill>
                <a:latin typeface="Aptos"/>
              </a:rPr>
              <a:t>duplicatas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5" name="Connector 31"/>
          <p:cNvCxnSpPr/>
          <p:nvPr/>
        </p:nvCxnSpPr>
        <p:spPr>
          <a:xfrm>
            <a:off x="3648240" y="2770560"/>
            <a:ext cx="905760" cy="360"/>
          </a:xfrm>
          <a:prstGeom prst="straightConnector1">
            <a:avLst/>
          </a:prstGeom>
          <a:ln w="16510">
            <a:solidFill>
              <a:srgbClr val="d9e3e3"/>
            </a:solidFill>
            <a:round/>
          </a:ln>
        </p:spPr>
      </p:cxnSp>
      <p:sp>
        <p:nvSpPr>
          <p:cNvPr id="286" name="Oval 32"/>
          <p:cNvSpPr/>
          <p:nvPr/>
        </p:nvSpPr>
        <p:spPr>
          <a:xfrm>
            <a:off x="4626720" y="2587680"/>
            <a:ext cx="365400" cy="36540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4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33"/>
          <p:cNvSpPr/>
          <p:nvPr/>
        </p:nvSpPr>
        <p:spPr>
          <a:xfrm>
            <a:off x="4370760" y="3054240"/>
            <a:ext cx="89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Banco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34"/>
          <p:cNvSpPr/>
          <p:nvPr/>
        </p:nvSpPr>
        <p:spPr>
          <a:xfrm>
            <a:off x="4425840" y="3319200"/>
            <a:ext cx="78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707d84"/>
                </a:solidFill>
                <a:latin typeface="Aptos"/>
              </a:rPr>
              <a:t>transação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9" name="Connector 35"/>
          <p:cNvCxnSpPr/>
          <p:nvPr/>
        </p:nvCxnSpPr>
        <p:spPr>
          <a:xfrm>
            <a:off x="5019840" y="2770560"/>
            <a:ext cx="905760" cy="360"/>
          </a:xfrm>
          <a:prstGeom prst="straightConnector1">
            <a:avLst/>
          </a:prstGeom>
          <a:ln w="16510">
            <a:solidFill>
              <a:srgbClr val="d9e3e3"/>
            </a:solidFill>
            <a:round/>
          </a:ln>
        </p:spPr>
      </p:cxnSp>
      <p:sp>
        <p:nvSpPr>
          <p:cNvPr id="290" name="Oval 36"/>
          <p:cNvSpPr/>
          <p:nvPr/>
        </p:nvSpPr>
        <p:spPr>
          <a:xfrm>
            <a:off x="5998320" y="2587680"/>
            <a:ext cx="365400" cy="36540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5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37"/>
          <p:cNvSpPr/>
          <p:nvPr/>
        </p:nvSpPr>
        <p:spPr>
          <a:xfrm>
            <a:off x="5742360" y="3054240"/>
            <a:ext cx="89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Snapshot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38"/>
          <p:cNvSpPr/>
          <p:nvPr/>
        </p:nvSpPr>
        <p:spPr>
          <a:xfrm>
            <a:off x="5797440" y="3319200"/>
            <a:ext cx="78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707d84"/>
                </a:solidFill>
                <a:latin typeface="Aptos"/>
              </a:rPr>
              <a:t>revisão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3" name="Connector 39"/>
          <p:cNvCxnSpPr/>
          <p:nvPr/>
        </p:nvCxnSpPr>
        <p:spPr>
          <a:xfrm>
            <a:off x="6391440" y="2770560"/>
            <a:ext cx="905760" cy="360"/>
          </a:xfrm>
          <a:prstGeom prst="straightConnector1">
            <a:avLst/>
          </a:prstGeom>
          <a:ln w="16510">
            <a:solidFill>
              <a:srgbClr val="d9e3e3"/>
            </a:solidFill>
            <a:round/>
          </a:ln>
        </p:spPr>
      </p:cxnSp>
      <p:sp>
        <p:nvSpPr>
          <p:cNvPr id="294" name="Oval 40"/>
          <p:cNvSpPr/>
          <p:nvPr/>
        </p:nvSpPr>
        <p:spPr>
          <a:xfrm>
            <a:off x="7369920" y="2587680"/>
            <a:ext cx="365400" cy="36540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ffffff"/>
                </a:solidFill>
                <a:latin typeface="Aptos Display"/>
              </a:rPr>
              <a:t>6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41"/>
          <p:cNvSpPr/>
          <p:nvPr/>
        </p:nvSpPr>
        <p:spPr>
          <a:xfrm>
            <a:off x="7113960" y="3054240"/>
            <a:ext cx="89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172433"/>
                </a:solidFill>
                <a:latin typeface="Aptos"/>
              </a:rPr>
              <a:t>Ranking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42"/>
          <p:cNvSpPr/>
          <p:nvPr/>
        </p:nvSpPr>
        <p:spPr>
          <a:xfrm>
            <a:off x="7169040" y="3319200"/>
            <a:ext cx="78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707d84"/>
                </a:solidFill>
                <a:latin typeface="Aptos"/>
              </a:rPr>
              <a:t>Top-K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ounded Rectangle 43"/>
          <p:cNvSpPr/>
          <p:nvPr/>
        </p:nvSpPr>
        <p:spPr>
          <a:xfrm>
            <a:off x="640080" y="3803760"/>
            <a:ext cx="7863480" cy="43848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edf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98" name="TextBox 44"/>
          <p:cNvSpPr/>
          <p:nvPr/>
        </p:nvSpPr>
        <p:spPr>
          <a:xfrm>
            <a:off x="850320" y="3931920"/>
            <a:ext cx="7452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004a2a"/>
                </a:solidFill>
                <a:latin typeface="Aptos"/>
              </a:rPr>
              <a:t>Correção aplicada: chaves compostas repetidas são consolidadas antes da inserção, preservando as restrições do banco.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IMPLEMENTAÇÃO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Arquitetura do protótipo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1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302" name="Rounded Rectangle 4"/>
          <p:cNvSpPr/>
          <p:nvPr/>
        </p:nvSpPr>
        <p:spPr>
          <a:xfrm>
            <a:off x="457200" y="1134000"/>
            <a:ext cx="8210880" cy="292572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676800" y="1261800"/>
            <a:ext cx="2834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50" spc="-1" strike="noStrike">
                <a:solidFill>
                  <a:srgbClr val="006633"/>
                </a:solidFill>
                <a:latin typeface="Aptos"/>
              </a:rPr>
              <a:t>AMBIENTE LOCAL / KUBERNETES / EKS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ounded Rectangle 6"/>
          <p:cNvSpPr/>
          <p:nvPr/>
        </p:nvSpPr>
        <p:spPr>
          <a:xfrm>
            <a:off x="713160" y="1901880"/>
            <a:ext cx="11883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05" name="TextBox 7"/>
          <p:cNvSpPr/>
          <p:nvPr/>
        </p:nvSpPr>
        <p:spPr>
          <a:xfrm>
            <a:off x="786240" y="2020680"/>
            <a:ext cx="104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150" spc="-1" strike="noStrike">
                <a:solidFill>
                  <a:srgbClr val="044299"/>
                </a:solidFill>
                <a:latin typeface="Aptos"/>
              </a:rPr>
              <a:t>Usuário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8"/>
          <p:cNvSpPr/>
          <p:nvPr/>
        </p:nvSpPr>
        <p:spPr>
          <a:xfrm>
            <a:off x="786240" y="2286000"/>
            <a:ext cx="1042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browser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Rounded Rectangle 9"/>
          <p:cNvSpPr/>
          <p:nvPr/>
        </p:nvSpPr>
        <p:spPr>
          <a:xfrm>
            <a:off x="2157840" y="1901880"/>
            <a:ext cx="14169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08" name="TextBox 10"/>
          <p:cNvSpPr/>
          <p:nvPr/>
        </p:nvSpPr>
        <p:spPr>
          <a:xfrm>
            <a:off x="2231280" y="2020680"/>
            <a:ext cx="1270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150" spc="-1" strike="noStrike">
                <a:solidFill>
                  <a:srgbClr val="006633"/>
                </a:solidFill>
                <a:latin typeface="Aptos"/>
              </a:rPr>
              <a:t>React + Nginx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11"/>
          <p:cNvSpPr/>
          <p:nvPr/>
        </p:nvSpPr>
        <p:spPr>
          <a:xfrm>
            <a:off x="2231280" y="2286000"/>
            <a:ext cx="1270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frontend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ounded Rectangle 12"/>
          <p:cNvSpPr/>
          <p:nvPr/>
        </p:nvSpPr>
        <p:spPr>
          <a:xfrm>
            <a:off x="3840480" y="1901880"/>
            <a:ext cx="14169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4a2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11" name="TextBox 13"/>
          <p:cNvSpPr/>
          <p:nvPr/>
        </p:nvSpPr>
        <p:spPr>
          <a:xfrm>
            <a:off x="3913560" y="2020680"/>
            <a:ext cx="1270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150" spc="-1" strike="noStrike">
                <a:solidFill>
                  <a:srgbClr val="004a2a"/>
                </a:solidFill>
                <a:latin typeface="Aptos"/>
              </a:rPr>
              <a:t>FastAPI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4"/>
          <p:cNvSpPr/>
          <p:nvPr/>
        </p:nvSpPr>
        <p:spPr>
          <a:xfrm>
            <a:off x="3913560" y="2286000"/>
            <a:ext cx="1270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API + auth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ounded Rectangle 15"/>
          <p:cNvSpPr/>
          <p:nvPr/>
        </p:nvSpPr>
        <p:spPr>
          <a:xfrm>
            <a:off x="5523120" y="1901880"/>
            <a:ext cx="14169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14" name="TextBox 16"/>
          <p:cNvSpPr/>
          <p:nvPr/>
        </p:nvSpPr>
        <p:spPr>
          <a:xfrm>
            <a:off x="5596200" y="2020680"/>
            <a:ext cx="1270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150" spc="-1" strike="noStrike">
                <a:solidFill>
                  <a:srgbClr val="7b61ff"/>
                </a:solidFill>
                <a:latin typeface="Aptos"/>
              </a:rPr>
              <a:t>PostgreSQL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17"/>
          <p:cNvSpPr/>
          <p:nvPr/>
        </p:nvSpPr>
        <p:spPr>
          <a:xfrm>
            <a:off x="5596200" y="2286000"/>
            <a:ext cx="1270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persistência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18"/>
          <p:cNvSpPr/>
          <p:nvPr/>
        </p:nvSpPr>
        <p:spPr>
          <a:xfrm>
            <a:off x="1901880" y="205740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19"/>
          <p:cNvSpPr/>
          <p:nvPr/>
        </p:nvSpPr>
        <p:spPr>
          <a:xfrm>
            <a:off x="3575160" y="205740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20"/>
          <p:cNvSpPr/>
          <p:nvPr/>
        </p:nvSpPr>
        <p:spPr>
          <a:xfrm>
            <a:off x="5257800" y="2057400"/>
            <a:ext cx="255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ounded Rectangle 21"/>
          <p:cNvSpPr/>
          <p:nvPr/>
        </p:nvSpPr>
        <p:spPr>
          <a:xfrm>
            <a:off x="3840480" y="294444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91bd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20" name="TextBox 22"/>
          <p:cNvSpPr/>
          <p:nvPr/>
        </p:nvSpPr>
        <p:spPr>
          <a:xfrm>
            <a:off x="3931920" y="3081600"/>
            <a:ext cx="1234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006633"/>
                </a:solidFill>
                <a:latin typeface="Aptos"/>
              </a:rPr>
              <a:t>Recomendadores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23"/>
          <p:cNvSpPr/>
          <p:nvPr/>
        </p:nvSpPr>
        <p:spPr>
          <a:xfrm>
            <a:off x="4407480" y="2597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91bd00"/>
                </a:solidFill>
                <a:latin typeface="Aptos"/>
              </a:rPr>
              <a:t>↕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ounded Rectangle 24"/>
          <p:cNvSpPr/>
          <p:nvPr/>
        </p:nvSpPr>
        <p:spPr>
          <a:xfrm>
            <a:off x="7269480" y="1481400"/>
            <a:ext cx="1124280" cy="208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23" name="TextBox 25"/>
          <p:cNvSpPr/>
          <p:nvPr/>
        </p:nvSpPr>
        <p:spPr>
          <a:xfrm>
            <a:off x="7351920" y="162756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80" spc="-1" strike="noStrike">
                <a:solidFill>
                  <a:srgbClr val="004a2a"/>
                </a:solidFill>
                <a:latin typeface="Aptos"/>
              </a:rPr>
              <a:t>OBSERVABILIDADE</a:t>
            </a:r>
            <a:endParaRPr b="0" lang="pt-BR" sz="6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Oval 26"/>
          <p:cNvSpPr/>
          <p:nvPr/>
        </p:nvSpPr>
        <p:spPr>
          <a:xfrm>
            <a:off x="7452360" y="2057400"/>
            <a:ext cx="145800" cy="14580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27"/>
          <p:cNvSpPr/>
          <p:nvPr/>
        </p:nvSpPr>
        <p:spPr>
          <a:xfrm>
            <a:off x="7662600" y="200268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780" spc="-1" strike="noStrike">
                <a:solidFill>
                  <a:srgbClr val="34454f"/>
                </a:solidFill>
                <a:latin typeface="Aptos"/>
              </a:rPr>
              <a:t>Prometheus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Oval 28"/>
          <p:cNvSpPr/>
          <p:nvPr/>
        </p:nvSpPr>
        <p:spPr>
          <a:xfrm>
            <a:off x="7452360" y="2496240"/>
            <a:ext cx="145800" cy="145800"/>
          </a:xfrm>
          <a:prstGeom prst="ellipse">
            <a:avLst/>
          </a:prstGeom>
          <a:solidFill>
            <a:srgbClr val="f4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29"/>
          <p:cNvSpPr/>
          <p:nvPr/>
        </p:nvSpPr>
        <p:spPr>
          <a:xfrm>
            <a:off x="7662600" y="244152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780" spc="-1" strike="noStrike">
                <a:solidFill>
                  <a:srgbClr val="34454f"/>
                </a:solidFill>
                <a:latin typeface="Aptos"/>
              </a:rPr>
              <a:t>Grafana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Oval 30"/>
          <p:cNvSpPr/>
          <p:nvPr/>
        </p:nvSpPr>
        <p:spPr>
          <a:xfrm>
            <a:off x="7452360" y="2935080"/>
            <a:ext cx="145800" cy="1458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31"/>
          <p:cNvSpPr/>
          <p:nvPr/>
        </p:nvSpPr>
        <p:spPr>
          <a:xfrm>
            <a:off x="7662600" y="288036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780" spc="-1" strike="noStrike">
                <a:solidFill>
                  <a:srgbClr val="34454f"/>
                </a:solidFill>
                <a:latin typeface="Aptos"/>
              </a:rPr>
              <a:t>Alertas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0" name="Connector 32"/>
          <p:cNvCxnSpPr/>
          <p:nvPr/>
        </p:nvCxnSpPr>
        <p:spPr>
          <a:xfrm>
            <a:off x="5257800" y="1764720"/>
            <a:ext cx="2012040" cy="360"/>
          </a:xfrm>
          <a:prstGeom prst="straightConnector1">
            <a:avLst/>
          </a:prstGeom>
          <a:ln w="19050">
            <a:solidFill>
              <a:srgbClr val="006633"/>
            </a:solidFill>
            <a:round/>
          </a:ln>
        </p:spPr>
      </p:cxnSp>
      <p:sp>
        <p:nvSpPr>
          <p:cNvPr id="331" name="TextBox 33"/>
          <p:cNvSpPr/>
          <p:nvPr/>
        </p:nvSpPr>
        <p:spPr>
          <a:xfrm>
            <a:off x="5989320" y="1572840"/>
            <a:ext cx="639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800" spc="-1" strike="noStrike">
                <a:solidFill>
                  <a:srgbClr val="006633"/>
                </a:solidFill>
                <a:latin typeface="Aptos"/>
              </a:rPr>
              <a:t>/metrics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34"/>
          <p:cNvSpPr/>
          <p:nvPr/>
        </p:nvSpPr>
        <p:spPr>
          <a:xfrm>
            <a:off x="658440" y="418788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Controles incorporados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35"/>
          <p:cNvSpPr/>
          <p:nvPr/>
        </p:nvSpPr>
        <p:spPr>
          <a:xfrm>
            <a:off x="1965960" y="4160520"/>
            <a:ext cx="6217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50" spc="-1" strike="noStrike">
                <a:solidFill>
                  <a:srgbClr val="34454f"/>
                </a:solidFill>
                <a:latin typeface="Aptos"/>
              </a:rPr>
              <a:t>tokens assinados  •  autorização administrativa  •  validação  •  revisão do modelo  •  PVC + backup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IMPLEMENTAÇÃO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Sistema web funcional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6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337" name="Rounded Rectangle 4"/>
          <p:cNvSpPr/>
          <p:nvPr/>
        </p:nvSpPr>
        <p:spPr>
          <a:xfrm>
            <a:off x="438840" y="1069920"/>
            <a:ext cx="610776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pic>
        <p:nvPicPr>
          <p:cNvPr id="338" name="Picture 5" descr="sistema_catalogo.png"/>
          <p:cNvPicPr/>
          <p:nvPr/>
        </p:nvPicPr>
        <p:blipFill>
          <a:blip r:embed="rId1"/>
          <a:srcRect l="0" t="6549" r="0" b="6549"/>
          <a:stretch/>
        </p:blipFill>
        <p:spPr>
          <a:xfrm>
            <a:off x="502920" y="1134000"/>
            <a:ext cx="5979960" cy="3117600"/>
          </a:xfrm>
          <a:prstGeom prst="rect">
            <a:avLst/>
          </a:prstGeom>
          <a:ln w="0">
            <a:noFill/>
          </a:ln>
        </p:spPr>
      </p:pic>
      <p:sp>
        <p:nvSpPr>
          <p:cNvPr id="339" name="TextBox 6"/>
          <p:cNvSpPr/>
          <p:nvPr/>
        </p:nvSpPr>
        <p:spPr>
          <a:xfrm>
            <a:off x="6812280" y="124344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4a2a"/>
                </a:solidFill>
                <a:latin typeface="Aptos"/>
              </a:rPr>
              <a:t>Fluxos disponíveis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Oval 7"/>
          <p:cNvSpPr/>
          <p:nvPr/>
        </p:nvSpPr>
        <p:spPr>
          <a:xfrm>
            <a:off x="6793920" y="174636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8"/>
          <p:cNvSpPr/>
          <p:nvPr/>
        </p:nvSpPr>
        <p:spPr>
          <a:xfrm>
            <a:off x="7004160" y="1673280"/>
            <a:ext cx="1572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50" spc="-1" strike="noStrike">
                <a:solidFill>
                  <a:srgbClr val="34454f"/>
                </a:solidFill>
                <a:latin typeface="Aptos"/>
              </a:rPr>
              <a:t>Autenticação com senha e token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Oval 9"/>
          <p:cNvSpPr/>
          <p:nvPr/>
        </p:nvSpPr>
        <p:spPr>
          <a:xfrm>
            <a:off x="6793920" y="211212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10"/>
          <p:cNvSpPr/>
          <p:nvPr/>
        </p:nvSpPr>
        <p:spPr>
          <a:xfrm>
            <a:off x="7004160" y="2039040"/>
            <a:ext cx="1572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50" spc="-1" strike="noStrike">
                <a:solidFill>
                  <a:srgbClr val="34454f"/>
                </a:solidFill>
                <a:latin typeface="Aptos"/>
              </a:rPr>
              <a:t>Catálogo e consulta de livros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Oval 11"/>
          <p:cNvSpPr/>
          <p:nvPr/>
        </p:nvSpPr>
        <p:spPr>
          <a:xfrm>
            <a:off x="6793920" y="247788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12"/>
          <p:cNvSpPr/>
          <p:nvPr/>
        </p:nvSpPr>
        <p:spPr>
          <a:xfrm>
            <a:off x="7004160" y="2404800"/>
            <a:ext cx="1572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50" spc="-1" strike="noStrike">
                <a:solidFill>
                  <a:srgbClr val="34454f"/>
                </a:solidFill>
                <a:latin typeface="Aptos"/>
              </a:rPr>
              <a:t>Avaliações, tags e lista de leitura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Oval 13"/>
          <p:cNvSpPr/>
          <p:nvPr/>
        </p:nvSpPr>
        <p:spPr>
          <a:xfrm>
            <a:off x="6793920" y="284364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4"/>
          <p:cNvSpPr/>
          <p:nvPr/>
        </p:nvSpPr>
        <p:spPr>
          <a:xfrm>
            <a:off x="7004160" y="2770560"/>
            <a:ext cx="1572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50" spc="-1" strike="noStrike">
                <a:solidFill>
                  <a:srgbClr val="34454f"/>
                </a:solidFill>
                <a:latin typeface="Aptos"/>
              </a:rPr>
              <a:t>Recomendação por item e por usuário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Oval 15"/>
          <p:cNvSpPr/>
          <p:nvPr/>
        </p:nvSpPr>
        <p:spPr>
          <a:xfrm>
            <a:off x="6793920" y="320940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16"/>
          <p:cNvSpPr/>
          <p:nvPr/>
        </p:nvSpPr>
        <p:spPr>
          <a:xfrm>
            <a:off x="7004160" y="3136320"/>
            <a:ext cx="1572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50" spc="-1" strike="noStrike">
                <a:solidFill>
                  <a:srgbClr val="34454f"/>
                </a:solidFill>
                <a:latin typeface="Aptos"/>
              </a:rPr>
              <a:t>Área administrativa protegida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ounded Rectangle 17"/>
          <p:cNvSpPr/>
          <p:nvPr/>
        </p:nvSpPr>
        <p:spPr>
          <a:xfrm>
            <a:off x="6748200" y="3703320"/>
            <a:ext cx="1773720" cy="47520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91bd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51" name="TextBox 18"/>
          <p:cNvSpPr/>
          <p:nvPr/>
        </p:nvSpPr>
        <p:spPr>
          <a:xfrm>
            <a:off x="6885360" y="3849480"/>
            <a:ext cx="1499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850" spc="-1" strike="noStrike">
                <a:solidFill>
                  <a:srgbClr val="006633"/>
                </a:solidFill>
                <a:latin typeface="Aptos"/>
              </a:rPr>
              <a:t>React + FastAPI integrados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IMPLEMENTAÇÃO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Validação funcional e reprodutibilidade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4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355" name="Rounded Rectangle 4"/>
          <p:cNvSpPr/>
          <p:nvPr/>
        </p:nvSpPr>
        <p:spPr>
          <a:xfrm>
            <a:off x="567000" y="1188720"/>
            <a:ext cx="186516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56" name="TextBox 5"/>
          <p:cNvSpPr/>
          <p:nvPr/>
        </p:nvSpPr>
        <p:spPr>
          <a:xfrm>
            <a:off x="658440" y="1371600"/>
            <a:ext cx="1682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6633"/>
                </a:solidFill>
                <a:latin typeface="Aptos"/>
              </a:rPr>
              <a:t>27/27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6"/>
          <p:cNvSpPr/>
          <p:nvPr/>
        </p:nvSpPr>
        <p:spPr>
          <a:xfrm>
            <a:off x="658440" y="1728360"/>
            <a:ext cx="1682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testes backend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Rounded Rectangle 7"/>
          <p:cNvSpPr/>
          <p:nvPr/>
        </p:nvSpPr>
        <p:spPr>
          <a:xfrm>
            <a:off x="2651760" y="1188720"/>
            <a:ext cx="186516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59" name="TextBox 8"/>
          <p:cNvSpPr/>
          <p:nvPr/>
        </p:nvSpPr>
        <p:spPr>
          <a:xfrm>
            <a:off x="2743200" y="1371600"/>
            <a:ext cx="1682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44299"/>
                </a:solidFill>
                <a:latin typeface="Aptos"/>
              </a:rPr>
              <a:t>4/4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9"/>
          <p:cNvSpPr/>
          <p:nvPr/>
        </p:nvSpPr>
        <p:spPr>
          <a:xfrm>
            <a:off x="2743200" y="1728360"/>
            <a:ext cx="1682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testes frontend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Rounded Rectangle 10"/>
          <p:cNvSpPr/>
          <p:nvPr/>
        </p:nvSpPr>
        <p:spPr>
          <a:xfrm>
            <a:off x="4736520" y="1188720"/>
            <a:ext cx="186516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62" name="TextBox 11"/>
          <p:cNvSpPr/>
          <p:nvPr/>
        </p:nvSpPr>
        <p:spPr>
          <a:xfrm>
            <a:off x="4827960" y="1371600"/>
            <a:ext cx="1682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7b61ff"/>
                </a:solidFill>
                <a:latin typeface="Aptos"/>
              </a:rPr>
              <a:t>10.000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12"/>
          <p:cNvSpPr/>
          <p:nvPr/>
        </p:nvSpPr>
        <p:spPr>
          <a:xfrm>
            <a:off x="4827960" y="1728360"/>
            <a:ext cx="1682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livros no snapshot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ounded Rectangle 13"/>
          <p:cNvSpPr/>
          <p:nvPr/>
        </p:nvSpPr>
        <p:spPr>
          <a:xfrm>
            <a:off x="6821280" y="1188720"/>
            <a:ext cx="186516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65" name="TextBox 14"/>
          <p:cNvSpPr/>
          <p:nvPr/>
        </p:nvSpPr>
        <p:spPr>
          <a:xfrm>
            <a:off x="6912720" y="1371600"/>
            <a:ext cx="1682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f4872d"/>
                </a:solidFill>
                <a:latin typeface="Aptos"/>
              </a:rPr>
              <a:t>979.478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15"/>
          <p:cNvSpPr/>
          <p:nvPr/>
        </p:nvSpPr>
        <p:spPr>
          <a:xfrm>
            <a:off x="6912720" y="1728360"/>
            <a:ext cx="1682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avaliações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ounded Rectangle 16"/>
          <p:cNvSpPr/>
          <p:nvPr/>
        </p:nvSpPr>
        <p:spPr>
          <a:xfrm>
            <a:off x="612720" y="2377440"/>
            <a:ext cx="2285640" cy="159984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68" name="TextBox 17"/>
          <p:cNvSpPr/>
          <p:nvPr/>
        </p:nvSpPr>
        <p:spPr>
          <a:xfrm>
            <a:off x="758880" y="257868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SISTEMA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Oval 18"/>
          <p:cNvSpPr/>
          <p:nvPr/>
        </p:nvSpPr>
        <p:spPr>
          <a:xfrm>
            <a:off x="795600" y="298080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19"/>
          <p:cNvSpPr/>
          <p:nvPr/>
        </p:nvSpPr>
        <p:spPr>
          <a:xfrm>
            <a:off x="1005840" y="290772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API e interface integradas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Oval 20"/>
          <p:cNvSpPr/>
          <p:nvPr/>
        </p:nvSpPr>
        <p:spPr>
          <a:xfrm>
            <a:off x="795600" y="322776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21"/>
          <p:cNvSpPr/>
          <p:nvPr/>
        </p:nvSpPr>
        <p:spPr>
          <a:xfrm>
            <a:off x="1005840" y="315468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autenticação e autorização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Oval 22"/>
          <p:cNvSpPr/>
          <p:nvPr/>
        </p:nvSpPr>
        <p:spPr>
          <a:xfrm>
            <a:off x="795600" y="347472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23"/>
          <p:cNvSpPr/>
          <p:nvPr/>
        </p:nvSpPr>
        <p:spPr>
          <a:xfrm>
            <a:off x="1005840" y="340164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carga dos CSVs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Oval 24"/>
          <p:cNvSpPr/>
          <p:nvPr/>
        </p:nvSpPr>
        <p:spPr>
          <a:xfrm>
            <a:off x="795600" y="372168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Box 25"/>
          <p:cNvSpPr/>
          <p:nvPr/>
        </p:nvSpPr>
        <p:spPr>
          <a:xfrm>
            <a:off x="1005840" y="364860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exportação XLSX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Rounded Rectangle 26"/>
          <p:cNvSpPr/>
          <p:nvPr/>
        </p:nvSpPr>
        <p:spPr>
          <a:xfrm>
            <a:off x="3237120" y="2377440"/>
            <a:ext cx="2285640" cy="159984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78" name="TextBox 27"/>
          <p:cNvSpPr/>
          <p:nvPr/>
        </p:nvSpPr>
        <p:spPr>
          <a:xfrm>
            <a:off x="3383280" y="257868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EXPERIMENTO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Oval 28"/>
          <p:cNvSpPr/>
          <p:nvPr/>
        </p:nvSpPr>
        <p:spPr>
          <a:xfrm>
            <a:off x="3420000" y="298080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29"/>
          <p:cNvSpPr/>
          <p:nvPr/>
        </p:nvSpPr>
        <p:spPr>
          <a:xfrm>
            <a:off x="3630240" y="290772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snapshot controlado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Oval 30"/>
          <p:cNvSpPr/>
          <p:nvPr/>
        </p:nvSpPr>
        <p:spPr>
          <a:xfrm>
            <a:off x="3420000" y="322776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31"/>
          <p:cNvSpPr/>
          <p:nvPr/>
        </p:nvSpPr>
        <p:spPr>
          <a:xfrm>
            <a:off x="3630240" y="315468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ataques sem alterar o banco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Oval 32"/>
          <p:cNvSpPr/>
          <p:nvPr/>
        </p:nvSpPr>
        <p:spPr>
          <a:xfrm>
            <a:off x="3420000" y="347472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33"/>
          <p:cNvSpPr/>
          <p:nvPr/>
        </p:nvSpPr>
        <p:spPr>
          <a:xfrm>
            <a:off x="3630240" y="340164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seed e coorte pareadas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Oval 34"/>
          <p:cNvSpPr/>
          <p:nvPr/>
        </p:nvSpPr>
        <p:spPr>
          <a:xfrm>
            <a:off x="3420000" y="372168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35"/>
          <p:cNvSpPr/>
          <p:nvPr/>
        </p:nvSpPr>
        <p:spPr>
          <a:xfrm>
            <a:off x="3630240" y="364860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36 cenários medidos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Rounded Rectangle 36"/>
          <p:cNvSpPr/>
          <p:nvPr/>
        </p:nvSpPr>
        <p:spPr>
          <a:xfrm>
            <a:off x="5861160" y="2377440"/>
            <a:ext cx="2285640" cy="159984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88" name="TextBox 37"/>
          <p:cNvSpPr/>
          <p:nvPr/>
        </p:nvSpPr>
        <p:spPr>
          <a:xfrm>
            <a:off x="6007680" y="257868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ENTREGA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Oval 38"/>
          <p:cNvSpPr/>
          <p:nvPr/>
        </p:nvSpPr>
        <p:spPr>
          <a:xfrm>
            <a:off x="6044040" y="298080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39"/>
          <p:cNvSpPr/>
          <p:nvPr/>
        </p:nvSpPr>
        <p:spPr>
          <a:xfrm>
            <a:off x="6254640" y="290772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Docker local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Oval 40"/>
          <p:cNvSpPr/>
          <p:nvPr/>
        </p:nvSpPr>
        <p:spPr>
          <a:xfrm>
            <a:off x="6044040" y="322776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Box 41"/>
          <p:cNvSpPr/>
          <p:nvPr/>
        </p:nvSpPr>
        <p:spPr>
          <a:xfrm>
            <a:off x="6254640" y="315468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manifests Kubernetes/EKS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Oval 42"/>
          <p:cNvSpPr/>
          <p:nvPr/>
        </p:nvSpPr>
        <p:spPr>
          <a:xfrm>
            <a:off x="6044040" y="347472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43"/>
          <p:cNvSpPr/>
          <p:nvPr/>
        </p:nvSpPr>
        <p:spPr>
          <a:xfrm>
            <a:off x="6254640" y="340164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deploy e destruição AWS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Oval 44"/>
          <p:cNvSpPr/>
          <p:nvPr/>
        </p:nvSpPr>
        <p:spPr>
          <a:xfrm>
            <a:off x="6044040" y="372168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45"/>
          <p:cNvSpPr/>
          <p:nvPr/>
        </p:nvSpPr>
        <p:spPr>
          <a:xfrm>
            <a:off x="6254640" y="3648600"/>
            <a:ext cx="17096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50" spc="-1" strike="noStrike">
                <a:solidFill>
                  <a:srgbClr val="34454f"/>
                </a:solidFill>
                <a:latin typeface="Aptos"/>
              </a:rPr>
              <a:t>relatório reproduzível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Rounded Rectangle 46"/>
          <p:cNvSpPr/>
          <p:nvPr/>
        </p:nvSpPr>
        <p:spPr>
          <a:xfrm>
            <a:off x="713160" y="4187880"/>
            <a:ext cx="7698960" cy="31968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edf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98" name="TextBox 47"/>
          <p:cNvSpPr/>
          <p:nvPr/>
        </p:nvSpPr>
        <p:spPr>
          <a:xfrm>
            <a:off x="896040" y="4270320"/>
            <a:ext cx="7333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30" spc="-1" strike="noStrike">
                <a:solidFill>
                  <a:srgbClr val="004a2a"/>
                </a:solidFill>
                <a:latin typeface="Aptos"/>
              </a:rPr>
              <a:t>A bateria foi concluída em 102,4 s e gerou quatro abas: Qualidade, Operação, Dados e Metodologia.</a:t>
            </a:r>
            <a:endParaRPr b="0" lang="pt-BR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48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suíte automatizada do repositório e bateria medida em 19/10/2026.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METODOLOGIA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Bateria pareada e medida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3"/>
          <p:cNvSpPr/>
          <p:nvPr/>
        </p:nvSpPr>
        <p:spPr>
          <a:xfrm>
            <a:off x="493920" y="831960"/>
            <a:ext cx="8092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707d84"/>
                </a:solidFill>
                <a:latin typeface="Aptos"/>
              </a:rPr>
              <a:t>Mesma seed, mesma coorte e mesmo snapshot nos dois modos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3" name="Connector 4"/>
          <p:cNvCxnSpPr/>
          <p:nvPr/>
        </p:nvCxnSpPr>
        <p:spPr>
          <a:xfrm>
            <a:off x="475200" y="108792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404" name="Rounded Rectangle 5"/>
          <p:cNvSpPr/>
          <p:nvPr/>
        </p:nvSpPr>
        <p:spPr>
          <a:xfrm>
            <a:off x="438840" y="1225440"/>
            <a:ext cx="1517400" cy="731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05" name="TextBox 6"/>
          <p:cNvSpPr/>
          <p:nvPr/>
        </p:nvSpPr>
        <p:spPr>
          <a:xfrm>
            <a:off x="511920" y="13626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44299"/>
                </a:solidFill>
                <a:latin typeface="Aptos"/>
              </a:rPr>
              <a:t>3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7"/>
          <p:cNvSpPr/>
          <p:nvPr/>
        </p:nvSpPr>
        <p:spPr>
          <a:xfrm>
            <a:off x="511920" y="169164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modelos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Rounded Rectangle 8"/>
          <p:cNvSpPr/>
          <p:nvPr/>
        </p:nvSpPr>
        <p:spPr>
          <a:xfrm>
            <a:off x="2157840" y="1225440"/>
            <a:ext cx="1517400" cy="731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08" name="TextBox 9"/>
          <p:cNvSpPr/>
          <p:nvPr/>
        </p:nvSpPr>
        <p:spPr>
          <a:xfrm>
            <a:off x="2231280" y="13626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f4872d"/>
                </a:solidFill>
                <a:latin typeface="Aptos"/>
              </a:rPr>
              <a:t>6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10"/>
          <p:cNvSpPr/>
          <p:nvPr/>
        </p:nvSpPr>
        <p:spPr>
          <a:xfrm>
            <a:off x="2231280" y="169164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ataques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ounded Rectangle 11"/>
          <p:cNvSpPr/>
          <p:nvPr/>
        </p:nvSpPr>
        <p:spPr>
          <a:xfrm>
            <a:off x="3877200" y="1225440"/>
            <a:ext cx="1517400" cy="731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11" name="TextBox 12"/>
          <p:cNvSpPr/>
          <p:nvPr/>
        </p:nvSpPr>
        <p:spPr>
          <a:xfrm>
            <a:off x="3950280" y="13626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7b61ff"/>
                </a:solidFill>
                <a:latin typeface="Aptos"/>
              </a:rPr>
              <a:t>18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13"/>
          <p:cNvSpPr/>
          <p:nvPr/>
        </p:nvSpPr>
        <p:spPr>
          <a:xfrm>
            <a:off x="3950280" y="169164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comparações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Rounded Rectangle 14"/>
          <p:cNvSpPr/>
          <p:nvPr/>
        </p:nvSpPr>
        <p:spPr>
          <a:xfrm>
            <a:off x="5596200" y="1225440"/>
            <a:ext cx="1517400" cy="731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14" name="TextBox 15"/>
          <p:cNvSpPr/>
          <p:nvPr/>
        </p:nvSpPr>
        <p:spPr>
          <a:xfrm>
            <a:off x="5669280" y="13626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06633"/>
                </a:solidFill>
                <a:latin typeface="Aptos"/>
              </a:rPr>
              <a:t>36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16"/>
          <p:cNvSpPr/>
          <p:nvPr/>
        </p:nvSpPr>
        <p:spPr>
          <a:xfrm>
            <a:off x="5669280" y="169164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execuções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Rounded Rectangle 17"/>
          <p:cNvSpPr/>
          <p:nvPr/>
        </p:nvSpPr>
        <p:spPr>
          <a:xfrm>
            <a:off x="7315200" y="1225440"/>
            <a:ext cx="1517400" cy="731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4a2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17" name="TextBox 18"/>
          <p:cNvSpPr/>
          <p:nvPr/>
        </p:nvSpPr>
        <p:spPr>
          <a:xfrm>
            <a:off x="7388280" y="13626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04a2a"/>
                </a:solidFill>
                <a:latin typeface="Aptos"/>
              </a:rPr>
              <a:t>102.4s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Box 19"/>
          <p:cNvSpPr/>
          <p:nvPr/>
        </p:nvSpPr>
        <p:spPr>
          <a:xfrm>
            <a:off x="7388280" y="1691640"/>
            <a:ext cx="13712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tempo total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Rounded Rectangle 20"/>
          <p:cNvSpPr/>
          <p:nvPr/>
        </p:nvSpPr>
        <p:spPr>
          <a:xfrm>
            <a:off x="685800" y="2395800"/>
            <a:ext cx="2395440" cy="87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20" name="TextBox 21"/>
          <p:cNvSpPr/>
          <p:nvPr/>
        </p:nvSpPr>
        <p:spPr>
          <a:xfrm>
            <a:off x="795600" y="258768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850" spc="-1" strike="noStrike">
                <a:solidFill>
                  <a:srgbClr val="044299"/>
                </a:solidFill>
                <a:latin typeface="Aptos"/>
              </a:rPr>
              <a:t>QUALIDADE INICIAL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22"/>
          <p:cNvSpPr/>
          <p:nvPr/>
        </p:nvSpPr>
        <p:spPr>
          <a:xfrm>
            <a:off x="795600" y="289872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modelo antes da injeção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23"/>
          <p:cNvSpPr/>
          <p:nvPr/>
        </p:nvSpPr>
        <p:spPr>
          <a:xfrm>
            <a:off x="3099960" y="263340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20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ounded Rectangle 24"/>
          <p:cNvSpPr/>
          <p:nvPr/>
        </p:nvSpPr>
        <p:spPr>
          <a:xfrm>
            <a:off x="3483720" y="2395800"/>
            <a:ext cx="2395440" cy="87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24" name="TextBox 25"/>
          <p:cNvSpPr/>
          <p:nvPr/>
        </p:nvSpPr>
        <p:spPr>
          <a:xfrm>
            <a:off x="3593520" y="258768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850" spc="-1" strike="noStrike">
                <a:solidFill>
                  <a:srgbClr val="f4872d"/>
                </a:solidFill>
                <a:latin typeface="Aptos"/>
              </a:rPr>
              <a:t>SEM OBSERVABILIDADE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26"/>
          <p:cNvSpPr/>
          <p:nvPr/>
        </p:nvSpPr>
        <p:spPr>
          <a:xfrm>
            <a:off x="3593520" y="289872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lote atacado permanece bruto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27"/>
          <p:cNvSpPr/>
          <p:nvPr/>
        </p:nvSpPr>
        <p:spPr>
          <a:xfrm>
            <a:off x="5897880" y="2633400"/>
            <a:ext cx="32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2000" spc="-1" strike="noStrike">
                <a:solidFill>
                  <a:srgbClr val="91bd00"/>
                </a:solidFill>
                <a:latin typeface="Aptos"/>
              </a:rPr>
              <a:t>→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ounded Rectangle 28"/>
          <p:cNvSpPr/>
          <p:nvPr/>
        </p:nvSpPr>
        <p:spPr>
          <a:xfrm>
            <a:off x="6282000" y="2395800"/>
            <a:ext cx="2395440" cy="87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28" name="TextBox 29"/>
          <p:cNvSpPr/>
          <p:nvPr/>
        </p:nvSpPr>
        <p:spPr>
          <a:xfrm>
            <a:off x="6391800" y="258768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850" spc="-1" strike="noStrike">
                <a:solidFill>
                  <a:srgbClr val="006633"/>
                </a:solidFill>
                <a:latin typeface="Aptos"/>
              </a:rPr>
              <a:t>COM OBSERVABILIDADE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30"/>
          <p:cNvSpPr/>
          <p:nvPr/>
        </p:nvSpPr>
        <p:spPr>
          <a:xfrm>
            <a:off x="6391800" y="2898720"/>
            <a:ext cx="2175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detecção + resposta automática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ounded Rectangle 31"/>
          <p:cNvSpPr/>
          <p:nvPr/>
        </p:nvSpPr>
        <p:spPr>
          <a:xfrm>
            <a:off x="685800" y="3547800"/>
            <a:ext cx="7772040" cy="71280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91bd0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31" name="TextBox 32"/>
          <p:cNvSpPr/>
          <p:nvPr/>
        </p:nvSpPr>
        <p:spPr>
          <a:xfrm>
            <a:off x="868680" y="3703320"/>
            <a:ext cx="7406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050" spc="-1" strike="noStrike">
                <a:solidFill>
                  <a:srgbClr val="004a2a"/>
                </a:solidFill>
                <a:latin typeface="Aptos"/>
              </a:rPr>
              <a:t>Seed 42  •  intensidade 30%  •  100 usuários  •  Top-10  •  alvo automático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33"/>
          <p:cNvSpPr/>
          <p:nvPr/>
        </p:nvSpPr>
        <p:spPr>
          <a:xfrm>
            <a:off x="1097280" y="3977640"/>
            <a:ext cx="6949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50" spc="-1" strike="noStrike">
                <a:solidFill>
                  <a:srgbClr val="707d84"/>
                </a:solidFill>
                <a:latin typeface="Aptos"/>
              </a:rPr>
              <a:t>O ataque ocorre em uma cópia controlada; o banco principal não é alterado.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34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aba Metodologia do XLSX exportado pelo sistema em 19/10/2026.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METODOLOGIA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Ataques, sinais, respostas e métricas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6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437" name="Rounded Rectangle 4"/>
          <p:cNvSpPr/>
          <p:nvPr/>
        </p:nvSpPr>
        <p:spPr>
          <a:xfrm>
            <a:off x="475560" y="1161360"/>
            <a:ext cx="2578320" cy="130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38" name="TextBox 5"/>
          <p:cNvSpPr/>
          <p:nvPr/>
        </p:nvSpPr>
        <p:spPr>
          <a:xfrm>
            <a:off x="621720" y="1307520"/>
            <a:ext cx="1060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Push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6"/>
          <p:cNvSpPr/>
          <p:nvPr/>
        </p:nvSpPr>
        <p:spPr>
          <a:xfrm>
            <a:off x="621720" y="1600200"/>
            <a:ext cx="226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30" spc="-1" strike="noStrike">
                <a:solidFill>
                  <a:srgbClr val="34454f"/>
                </a:solidFill>
                <a:latin typeface="Aptos"/>
              </a:rPr>
              <a:t>promove item-alvo com perfis artificiais</a:t>
            </a:r>
            <a:endParaRPr b="0" lang="pt-BR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7"/>
          <p:cNvSpPr/>
          <p:nvPr/>
        </p:nvSpPr>
        <p:spPr>
          <a:xfrm>
            <a:off x="621720" y="1929240"/>
            <a:ext cx="2267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70" spc="-1" strike="noStrike">
                <a:solidFill>
                  <a:srgbClr val="004a2a"/>
                </a:solidFill>
                <a:latin typeface="Aptos"/>
              </a:rPr>
              <a:t>perfis atípicos → rollback</a:t>
            </a:r>
            <a:endParaRPr b="0" lang="pt-BR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8"/>
          <p:cNvSpPr/>
          <p:nvPr/>
        </p:nvSpPr>
        <p:spPr>
          <a:xfrm>
            <a:off x="621720" y="2212920"/>
            <a:ext cx="2267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750" spc="-1" strike="noStrike">
                <a:solidFill>
                  <a:srgbClr val="707d84"/>
                </a:solidFill>
                <a:latin typeface="Aptos"/>
              </a:rPr>
              <a:t>Métrica: exposição/rank do alvo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ounded Rectangle 9"/>
          <p:cNvSpPr/>
          <p:nvPr/>
        </p:nvSpPr>
        <p:spPr>
          <a:xfrm>
            <a:off x="3291840" y="1161360"/>
            <a:ext cx="2578320" cy="130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43" name="TextBox 10"/>
          <p:cNvSpPr/>
          <p:nvPr/>
        </p:nvSpPr>
        <p:spPr>
          <a:xfrm>
            <a:off x="3438000" y="1307520"/>
            <a:ext cx="1060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7b61ff"/>
                </a:solidFill>
                <a:latin typeface="Aptos"/>
              </a:rPr>
              <a:t>Nuke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11"/>
          <p:cNvSpPr/>
          <p:nvPr/>
        </p:nvSpPr>
        <p:spPr>
          <a:xfrm>
            <a:off x="3438000" y="1600200"/>
            <a:ext cx="226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30" spc="-1" strike="noStrike">
                <a:solidFill>
                  <a:srgbClr val="34454f"/>
                </a:solidFill>
                <a:latin typeface="Aptos"/>
              </a:rPr>
              <a:t>rebaixa item-alvo com notas artificiais</a:t>
            </a:r>
            <a:endParaRPr b="0" lang="pt-BR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Box 12"/>
          <p:cNvSpPr/>
          <p:nvPr/>
        </p:nvSpPr>
        <p:spPr>
          <a:xfrm>
            <a:off x="3438000" y="1929240"/>
            <a:ext cx="2267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70" spc="-1" strike="noStrike">
                <a:solidFill>
                  <a:srgbClr val="004a2a"/>
                </a:solidFill>
                <a:latin typeface="Aptos"/>
              </a:rPr>
              <a:t>perfis atípicos → rollback</a:t>
            </a:r>
            <a:endParaRPr b="0" lang="pt-BR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13"/>
          <p:cNvSpPr/>
          <p:nvPr/>
        </p:nvSpPr>
        <p:spPr>
          <a:xfrm>
            <a:off x="3438000" y="2212920"/>
            <a:ext cx="2267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750" spc="-1" strike="noStrike">
                <a:solidFill>
                  <a:srgbClr val="707d84"/>
                </a:solidFill>
                <a:latin typeface="Aptos"/>
              </a:rPr>
              <a:t>Métrica: exposição/rank do alvo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ounded Rectangle 14"/>
          <p:cNvSpPr/>
          <p:nvPr/>
        </p:nvSpPr>
        <p:spPr>
          <a:xfrm>
            <a:off x="6108120" y="1161360"/>
            <a:ext cx="2578320" cy="130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48" name="TextBox 15"/>
          <p:cNvSpPr/>
          <p:nvPr/>
        </p:nvSpPr>
        <p:spPr>
          <a:xfrm>
            <a:off x="6254640" y="1307520"/>
            <a:ext cx="1060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Corrupção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16"/>
          <p:cNvSpPr/>
          <p:nvPr/>
        </p:nvSpPr>
        <p:spPr>
          <a:xfrm>
            <a:off x="6254640" y="1600200"/>
            <a:ext cx="226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30" spc="-1" strike="noStrike">
                <a:solidFill>
                  <a:srgbClr val="34454f"/>
                </a:solidFill>
                <a:latin typeface="Aptos"/>
              </a:rPr>
              <a:t>injeta inválidos, órfãos e duplicatas</a:t>
            </a:r>
            <a:endParaRPr b="0" lang="pt-BR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17"/>
          <p:cNvSpPr/>
          <p:nvPr/>
        </p:nvSpPr>
        <p:spPr>
          <a:xfrm>
            <a:off x="6254640" y="1929240"/>
            <a:ext cx="2267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70" spc="-1" strike="noStrike">
                <a:solidFill>
                  <a:srgbClr val="004a2a"/>
                </a:solidFill>
                <a:latin typeface="Aptos"/>
              </a:rPr>
              <a:t>regras de dados → quarentena</a:t>
            </a:r>
            <a:endParaRPr b="0" lang="pt-BR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18"/>
          <p:cNvSpPr/>
          <p:nvPr/>
        </p:nvSpPr>
        <p:spPr>
          <a:xfrm>
            <a:off x="6254640" y="2212920"/>
            <a:ext cx="2267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750" spc="-1" strike="noStrike">
                <a:solidFill>
                  <a:srgbClr val="707d84"/>
                </a:solidFill>
                <a:latin typeface="Aptos"/>
              </a:rPr>
              <a:t>Métrica: score de qualidade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Rounded Rectangle 19"/>
          <p:cNvSpPr/>
          <p:nvPr/>
        </p:nvSpPr>
        <p:spPr>
          <a:xfrm>
            <a:off x="475560" y="2670120"/>
            <a:ext cx="2578320" cy="130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53" name="TextBox 20"/>
          <p:cNvSpPr/>
          <p:nvPr/>
        </p:nvSpPr>
        <p:spPr>
          <a:xfrm>
            <a:off x="621720" y="2816280"/>
            <a:ext cx="1060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Drift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21"/>
          <p:cNvSpPr/>
          <p:nvPr/>
        </p:nvSpPr>
        <p:spPr>
          <a:xfrm>
            <a:off x="621720" y="3108960"/>
            <a:ext cx="226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30" spc="-1" strike="noStrike">
                <a:solidFill>
                  <a:srgbClr val="34454f"/>
                </a:solidFill>
                <a:latin typeface="Aptos"/>
              </a:rPr>
              <a:t>desloca a distribuição das notas</a:t>
            </a:r>
            <a:endParaRPr b="0" lang="pt-BR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22"/>
          <p:cNvSpPr/>
          <p:nvPr/>
        </p:nvSpPr>
        <p:spPr>
          <a:xfrm>
            <a:off x="621720" y="3438000"/>
            <a:ext cx="2267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70" spc="-1" strike="noStrike">
                <a:solidFill>
                  <a:srgbClr val="004a2a"/>
                </a:solidFill>
                <a:latin typeface="Aptos"/>
              </a:rPr>
              <a:t>mudança estatística → rollback</a:t>
            </a:r>
            <a:endParaRPr b="0" lang="pt-BR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Box 23"/>
          <p:cNvSpPr/>
          <p:nvPr/>
        </p:nvSpPr>
        <p:spPr>
          <a:xfrm>
            <a:off x="621720" y="3721680"/>
            <a:ext cx="2267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750" spc="-1" strike="noStrike">
                <a:solidFill>
                  <a:srgbClr val="707d84"/>
                </a:solidFill>
                <a:latin typeface="Aptos"/>
              </a:rPr>
              <a:t>Métrica: média + NDCG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Rounded Rectangle 24"/>
          <p:cNvSpPr/>
          <p:nvPr/>
        </p:nvSpPr>
        <p:spPr>
          <a:xfrm>
            <a:off x="3291840" y="2670120"/>
            <a:ext cx="2578320" cy="130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4a2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58" name="TextBox 25"/>
          <p:cNvSpPr/>
          <p:nvPr/>
        </p:nvSpPr>
        <p:spPr>
          <a:xfrm>
            <a:off x="3438000" y="2816280"/>
            <a:ext cx="1060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4a2a"/>
                </a:solidFill>
                <a:latin typeface="Aptos"/>
              </a:rPr>
              <a:t>Latência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26"/>
          <p:cNvSpPr/>
          <p:nvPr/>
        </p:nvSpPr>
        <p:spPr>
          <a:xfrm>
            <a:off x="3438000" y="3108960"/>
            <a:ext cx="226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30" spc="-1" strike="noStrike">
                <a:solidFill>
                  <a:srgbClr val="34454f"/>
                </a:solidFill>
                <a:latin typeface="Aptos"/>
              </a:rPr>
              <a:t>adiciona atraso ao caminho crítico</a:t>
            </a:r>
            <a:endParaRPr b="0" lang="pt-BR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27"/>
          <p:cNvSpPr/>
          <p:nvPr/>
        </p:nvSpPr>
        <p:spPr>
          <a:xfrm>
            <a:off x="3438000" y="3438000"/>
            <a:ext cx="2267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70" spc="-1" strike="noStrike">
                <a:solidFill>
                  <a:srgbClr val="004a2a"/>
                </a:solidFill>
                <a:latin typeface="Aptos"/>
              </a:rPr>
              <a:t>p95 alto → circuit breaker</a:t>
            </a:r>
            <a:endParaRPr b="0" lang="pt-BR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Box 28"/>
          <p:cNvSpPr/>
          <p:nvPr/>
        </p:nvSpPr>
        <p:spPr>
          <a:xfrm>
            <a:off x="3438000" y="3721680"/>
            <a:ext cx="2267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750" spc="-1" strike="noStrike">
                <a:solidFill>
                  <a:srgbClr val="707d84"/>
                </a:solidFill>
                <a:latin typeface="Aptos"/>
              </a:rPr>
              <a:t>Métrica: p95 e p99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Rounded Rectangle 29"/>
          <p:cNvSpPr/>
          <p:nvPr/>
        </p:nvSpPr>
        <p:spPr>
          <a:xfrm>
            <a:off x="6108120" y="2670120"/>
            <a:ext cx="2578320" cy="1307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63" name="TextBox 30"/>
          <p:cNvSpPr/>
          <p:nvPr/>
        </p:nvSpPr>
        <p:spPr>
          <a:xfrm>
            <a:off x="6254640" y="2816280"/>
            <a:ext cx="1060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Indisponibilidade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31"/>
          <p:cNvSpPr/>
          <p:nvPr/>
        </p:nvSpPr>
        <p:spPr>
          <a:xfrm>
            <a:off x="6254640" y="3108960"/>
            <a:ext cx="226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30" spc="-1" strike="noStrike">
                <a:solidFill>
                  <a:srgbClr val="34454f"/>
                </a:solidFill>
                <a:latin typeface="Aptos"/>
              </a:rPr>
              <a:t>simula falha de dependência</a:t>
            </a:r>
            <a:endParaRPr b="0" lang="pt-BR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Box 32"/>
          <p:cNvSpPr/>
          <p:nvPr/>
        </p:nvSpPr>
        <p:spPr>
          <a:xfrm>
            <a:off x="6254640" y="3438000"/>
            <a:ext cx="2267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70" spc="-1" strike="noStrike">
                <a:solidFill>
                  <a:srgbClr val="004a2a"/>
                </a:solidFill>
                <a:latin typeface="Aptos"/>
              </a:rPr>
              <a:t>erros → fallback</a:t>
            </a:r>
            <a:endParaRPr b="0" lang="pt-BR" sz="7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Box 33"/>
          <p:cNvSpPr/>
          <p:nvPr/>
        </p:nvSpPr>
        <p:spPr>
          <a:xfrm>
            <a:off x="6254640" y="3721680"/>
            <a:ext cx="2267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i="1" lang="pt-BR" sz="750" spc="-1" strike="noStrike">
                <a:solidFill>
                  <a:srgbClr val="707d84"/>
                </a:solidFill>
                <a:latin typeface="Aptos"/>
              </a:rPr>
              <a:t>Métrica: disponibilidade + falhas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Rounded Rectangle 34"/>
          <p:cNvSpPr/>
          <p:nvPr/>
        </p:nvSpPr>
        <p:spPr>
          <a:xfrm>
            <a:off x="658440" y="4316040"/>
            <a:ext cx="7826760" cy="292320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0160">
            <a:solidFill>
              <a:srgbClr val="eaf3f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68" name="TextBox 35"/>
          <p:cNvSpPr/>
          <p:nvPr/>
        </p:nvSpPr>
        <p:spPr>
          <a:xfrm>
            <a:off x="868680" y="4389120"/>
            <a:ext cx="7406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50" spc="-1" strike="noStrike">
                <a:solidFill>
                  <a:srgbClr val="044299"/>
                </a:solidFill>
                <a:latin typeface="Aptos"/>
              </a:rPr>
              <a:t>Observabilidade só demonstra benefício quando sinal, resposta e métrica estão alinhados ao efeito do ataque.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RESULTADOS OBTIDOS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Push e nuke attack: manipulação do item-alvo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1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472" name="Rounded Rectangle 4"/>
          <p:cNvSpPr/>
          <p:nvPr/>
        </p:nvSpPr>
        <p:spPr>
          <a:xfrm>
            <a:off x="502920" y="1152000"/>
            <a:ext cx="3885840" cy="87732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73" name="TextBox 5"/>
          <p:cNvSpPr/>
          <p:nvPr/>
        </p:nvSpPr>
        <p:spPr>
          <a:xfrm>
            <a:off x="649080" y="1298520"/>
            <a:ext cx="3593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f4872d"/>
                </a:solidFill>
                <a:latin typeface="Aptos"/>
              </a:rPr>
              <a:t>O ATAQUE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6"/>
          <p:cNvSpPr/>
          <p:nvPr/>
        </p:nvSpPr>
        <p:spPr>
          <a:xfrm>
            <a:off x="649080" y="1591200"/>
            <a:ext cx="3593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Perfis artificiais tentam promover (push) ou rebaixar (nuke) um livro-alvo por meio de avaliações coordenadas.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Rounded Rectangle 7"/>
          <p:cNvSpPr/>
          <p:nvPr/>
        </p:nvSpPr>
        <p:spPr>
          <a:xfrm>
            <a:off x="4645080" y="1152000"/>
            <a:ext cx="3977280" cy="87732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76" name="TextBox 8"/>
          <p:cNvSpPr/>
          <p:nvPr/>
        </p:nvSpPr>
        <p:spPr>
          <a:xfrm>
            <a:off x="4791600" y="1298520"/>
            <a:ext cx="3684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006633"/>
                </a:solidFill>
                <a:latin typeface="Aptos"/>
              </a:rPr>
              <a:t>A RESPOSTA OBSERVÁVEL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Box 9"/>
          <p:cNvSpPr/>
          <p:nvPr/>
        </p:nvSpPr>
        <p:spPr>
          <a:xfrm>
            <a:off x="4791600" y="1591200"/>
            <a:ext cx="3684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O aumento de perfis atípicos é detectado e o lote atacado sofre rollback para o snapshot íntegro.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10"/>
          <p:cNvSpPr/>
          <p:nvPr/>
        </p:nvSpPr>
        <p:spPr>
          <a:xfrm>
            <a:off x="594360" y="23133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Push — nota média do snapshot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Rounded Rectangle 11"/>
          <p:cNvSpPr/>
          <p:nvPr/>
        </p:nvSpPr>
        <p:spPr>
          <a:xfrm>
            <a:off x="594360" y="2569320"/>
            <a:ext cx="1212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80" name="TextBox 12"/>
          <p:cNvSpPr/>
          <p:nvPr/>
        </p:nvSpPr>
        <p:spPr>
          <a:xfrm>
            <a:off x="631080" y="2670120"/>
            <a:ext cx="1139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Box 13"/>
          <p:cNvSpPr/>
          <p:nvPr/>
        </p:nvSpPr>
        <p:spPr>
          <a:xfrm>
            <a:off x="631080" y="2871360"/>
            <a:ext cx="11397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3.822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Rounded Rectangle 14"/>
          <p:cNvSpPr/>
          <p:nvPr/>
        </p:nvSpPr>
        <p:spPr>
          <a:xfrm>
            <a:off x="1862280" y="2569320"/>
            <a:ext cx="1212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83" name="TextBox 15"/>
          <p:cNvSpPr/>
          <p:nvPr/>
        </p:nvSpPr>
        <p:spPr>
          <a:xfrm>
            <a:off x="1899000" y="2670120"/>
            <a:ext cx="1139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16"/>
          <p:cNvSpPr/>
          <p:nvPr/>
        </p:nvSpPr>
        <p:spPr>
          <a:xfrm>
            <a:off x="1899000" y="2871360"/>
            <a:ext cx="11397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3.852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ounded Rectangle 17"/>
          <p:cNvSpPr/>
          <p:nvPr/>
        </p:nvSpPr>
        <p:spPr>
          <a:xfrm>
            <a:off x="3130200" y="2569320"/>
            <a:ext cx="1212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86" name="TextBox 18"/>
          <p:cNvSpPr/>
          <p:nvPr/>
        </p:nvSpPr>
        <p:spPr>
          <a:xfrm>
            <a:off x="3166920" y="2670120"/>
            <a:ext cx="1139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19"/>
          <p:cNvSpPr/>
          <p:nvPr/>
        </p:nvSpPr>
        <p:spPr>
          <a:xfrm>
            <a:off x="3166920" y="2871360"/>
            <a:ext cx="11397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3.822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20"/>
          <p:cNvSpPr/>
          <p:nvPr/>
        </p:nvSpPr>
        <p:spPr>
          <a:xfrm>
            <a:off x="4800600" y="23133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Nuke — nota média do snapshot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Rounded Rectangle 21"/>
          <p:cNvSpPr/>
          <p:nvPr/>
        </p:nvSpPr>
        <p:spPr>
          <a:xfrm>
            <a:off x="4800600" y="2569320"/>
            <a:ext cx="1212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90" name="TextBox 22"/>
          <p:cNvSpPr/>
          <p:nvPr/>
        </p:nvSpPr>
        <p:spPr>
          <a:xfrm>
            <a:off x="4837320" y="2670120"/>
            <a:ext cx="1139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23"/>
          <p:cNvSpPr/>
          <p:nvPr/>
        </p:nvSpPr>
        <p:spPr>
          <a:xfrm>
            <a:off x="4837320" y="2871360"/>
            <a:ext cx="11397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3.822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Rounded Rectangle 24"/>
          <p:cNvSpPr/>
          <p:nvPr/>
        </p:nvSpPr>
        <p:spPr>
          <a:xfrm>
            <a:off x="6068520" y="2569320"/>
            <a:ext cx="1212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93" name="TextBox 25"/>
          <p:cNvSpPr/>
          <p:nvPr/>
        </p:nvSpPr>
        <p:spPr>
          <a:xfrm>
            <a:off x="6105240" y="2670120"/>
            <a:ext cx="1139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26"/>
          <p:cNvSpPr/>
          <p:nvPr/>
        </p:nvSpPr>
        <p:spPr>
          <a:xfrm>
            <a:off x="6105240" y="2871360"/>
            <a:ext cx="11397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3.867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27"/>
          <p:cNvSpPr/>
          <p:nvPr/>
        </p:nvSpPr>
        <p:spPr>
          <a:xfrm>
            <a:off x="7336440" y="2569320"/>
            <a:ext cx="121284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96" name="TextBox 28"/>
          <p:cNvSpPr/>
          <p:nvPr/>
        </p:nvSpPr>
        <p:spPr>
          <a:xfrm>
            <a:off x="7373160" y="2670120"/>
            <a:ext cx="11397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Box 29"/>
          <p:cNvSpPr/>
          <p:nvPr/>
        </p:nvSpPr>
        <p:spPr>
          <a:xfrm>
            <a:off x="7373160" y="2871360"/>
            <a:ext cx="11397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3.822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Rounded Rectangle 30"/>
          <p:cNvSpPr/>
          <p:nvPr/>
        </p:nvSpPr>
        <p:spPr>
          <a:xfrm>
            <a:off x="658440" y="3584520"/>
            <a:ext cx="7826760" cy="776880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99" name="TextBox 31"/>
          <p:cNvSpPr/>
          <p:nvPr/>
        </p:nvSpPr>
        <p:spPr>
          <a:xfrm>
            <a:off x="868680" y="3740040"/>
            <a:ext cx="187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044299"/>
                </a:solidFill>
                <a:latin typeface="Aptos"/>
              </a:rPr>
              <a:t>RESULTADO E LIMITE DA MÉTRICA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32"/>
          <p:cNvSpPr/>
          <p:nvPr/>
        </p:nvSpPr>
        <p:spPr>
          <a:xfrm>
            <a:off x="2560320" y="3684960"/>
            <a:ext cx="55774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30" spc="-1" strike="noStrike">
                <a:solidFill>
                  <a:srgbClr val="172433"/>
                </a:solidFill>
                <a:latin typeface="Aptos"/>
              </a:rPr>
              <a:t>O NDCG@10 permaneceu igual nos três modelos. Isso não invalida o ataque: o NDCG mede o item relevante retido, e não a promoção ou supressão do alvo. Para esses ataques, deve-se acrescentar exposição, posição e taxa de sucesso do alvo.</a:t>
            </a:r>
            <a:endParaRPr b="0" lang="pt-BR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33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abas Dados, Qualidade e Operação da bateria medida em 19/10/2026.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RESULTADOS OBTIDOS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Corrupção de dados: a qualidade cai e é restaurada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04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505" name="TextBox 4"/>
          <p:cNvSpPr/>
          <p:nvPr/>
        </p:nvSpPr>
        <p:spPr>
          <a:xfrm>
            <a:off x="548640" y="1188720"/>
            <a:ext cx="3885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Score de qualidade dos dados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Rounded Rectangle 5"/>
          <p:cNvSpPr/>
          <p:nvPr/>
        </p:nvSpPr>
        <p:spPr>
          <a:xfrm>
            <a:off x="548640" y="1444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07" name="TextBox 6"/>
          <p:cNvSpPr/>
          <p:nvPr/>
        </p:nvSpPr>
        <p:spPr>
          <a:xfrm>
            <a:off x="585360" y="154548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7"/>
          <p:cNvSpPr/>
          <p:nvPr/>
        </p:nvSpPr>
        <p:spPr>
          <a:xfrm>
            <a:off x="585360" y="1746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1.000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Rounded Rectangle 8"/>
          <p:cNvSpPr/>
          <p:nvPr/>
        </p:nvSpPr>
        <p:spPr>
          <a:xfrm>
            <a:off x="1862280" y="1444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10" name="TextBox 9"/>
          <p:cNvSpPr/>
          <p:nvPr/>
        </p:nvSpPr>
        <p:spPr>
          <a:xfrm>
            <a:off x="1899000" y="154548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10"/>
          <p:cNvSpPr/>
          <p:nvPr/>
        </p:nvSpPr>
        <p:spPr>
          <a:xfrm>
            <a:off x="1899000" y="1746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0.471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Rounded Rectangle 11"/>
          <p:cNvSpPr/>
          <p:nvPr/>
        </p:nvSpPr>
        <p:spPr>
          <a:xfrm>
            <a:off x="3175920" y="1444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13" name="TextBox 12"/>
          <p:cNvSpPr/>
          <p:nvPr/>
        </p:nvSpPr>
        <p:spPr>
          <a:xfrm>
            <a:off x="3212640" y="154548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Box 13"/>
          <p:cNvSpPr/>
          <p:nvPr/>
        </p:nvSpPr>
        <p:spPr>
          <a:xfrm>
            <a:off x="3212640" y="1746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1.000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Box 14"/>
          <p:cNvSpPr/>
          <p:nvPr/>
        </p:nvSpPr>
        <p:spPr>
          <a:xfrm>
            <a:off x="4709160" y="1188720"/>
            <a:ext cx="3885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Conteúdo — NDCG@10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Rounded Rectangle 15"/>
          <p:cNvSpPr/>
          <p:nvPr/>
        </p:nvSpPr>
        <p:spPr>
          <a:xfrm>
            <a:off x="4709160" y="1444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17" name="TextBox 16"/>
          <p:cNvSpPr/>
          <p:nvPr/>
        </p:nvSpPr>
        <p:spPr>
          <a:xfrm>
            <a:off x="4745880" y="154548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Box 17"/>
          <p:cNvSpPr/>
          <p:nvPr/>
        </p:nvSpPr>
        <p:spPr>
          <a:xfrm>
            <a:off x="4745880" y="1746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0.032474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Rounded Rectangle 18"/>
          <p:cNvSpPr/>
          <p:nvPr/>
        </p:nvSpPr>
        <p:spPr>
          <a:xfrm>
            <a:off x="6022800" y="1444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20" name="TextBox 19"/>
          <p:cNvSpPr/>
          <p:nvPr/>
        </p:nvSpPr>
        <p:spPr>
          <a:xfrm>
            <a:off x="6059520" y="154548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20"/>
          <p:cNvSpPr/>
          <p:nvPr/>
        </p:nvSpPr>
        <p:spPr>
          <a:xfrm>
            <a:off x="6059520" y="1746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0.029379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ounded Rectangle 21"/>
          <p:cNvSpPr/>
          <p:nvPr/>
        </p:nvSpPr>
        <p:spPr>
          <a:xfrm>
            <a:off x="7336440" y="1444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23" name="TextBox 22"/>
          <p:cNvSpPr/>
          <p:nvPr/>
        </p:nvSpPr>
        <p:spPr>
          <a:xfrm>
            <a:off x="7373160" y="154548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Box 23"/>
          <p:cNvSpPr/>
          <p:nvPr/>
        </p:nvSpPr>
        <p:spPr>
          <a:xfrm>
            <a:off x="7373160" y="1746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0.032474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Rounded Rectangle 24"/>
          <p:cNvSpPr/>
          <p:nvPr/>
        </p:nvSpPr>
        <p:spPr>
          <a:xfrm>
            <a:off x="548640" y="2560320"/>
            <a:ext cx="1846800" cy="65808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26" name="TextBox 25"/>
          <p:cNvSpPr/>
          <p:nvPr/>
        </p:nvSpPr>
        <p:spPr>
          <a:xfrm>
            <a:off x="640080" y="2697480"/>
            <a:ext cx="658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f4872d"/>
                </a:solidFill>
                <a:latin typeface="Aptos"/>
              </a:rPr>
              <a:t>7,69%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Box 26"/>
          <p:cNvSpPr/>
          <p:nvPr/>
        </p:nvSpPr>
        <p:spPr>
          <a:xfrm>
            <a:off x="1298520" y="2688480"/>
            <a:ext cx="98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80" spc="-1" strike="noStrike">
                <a:solidFill>
                  <a:srgbClr val="34454f"/>
                </a:solidFill>
                <a:latin typeface="Aptos"/>
              </a:rPr>
              <a:t>domínio inválido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Rounded Rectangle 27"/>
          <p:cNvSpPr/>
          <p:nvPr/>
        </p:nvSpPr>
        <p:spPr>
          <a:xfrm>
            <a:off x="2606040" y="2560320"/>
            <a:ext cx="1846800" cy="65808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29" name="TextBox 28"/>
          <p:cNvSpPr/>
          <p:nvPr/>
        </p:nvSpPr>
        <p:spPr>
          <a:xfrm>
            <a:off x="2697480" y="2697480"/>
            <a:ext cx="658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f4872d"/>
                </a:solidFill>
                <a:latin typeface="Aptos"/>
              </a:rPr>
              <a:t>7,69%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Box 29"/>
          <p:cNvSpPr/>
          <p:nvPr/>
        </p:nvSpPr>
        <p:spPr>
          <a:xfrm>
            <a:off x="3355920" y="2688480"/>
            <a:ext cx="98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80" spc="-1" strike="noStrike">
                <a:solidFill>
                  <a:srgbClr val="34454f"/>
                </a:solidFill>
                <a:latin typeface="Aptos"/>
              </a:rPr>
              <a:t>referências órfãs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Rounded Rectangle 30"/>
          <p:cNvSpPr/>
          <p:nvPr/>
        </p:nvSpPr>
        <p:spPr>
          <a:xfrm>
            <a:off x="4663440" y="2560320"/>
            <a:ext cx="1846800" cy="65808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32" name="TextBox 31"/>
          <p:cNvSpPr/>
          <p:nvPr/>
        </p:nvSpPr>
        <p:spPr>
          <a:xfrm>
            <a:off x="4754880" y="2697480"/>
            <a:ext cx="658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f4872d"/>
                </a:solidFill>
                <a:latin typeface="Aptos"/>
              </a:rPr>
              <a:t>37,5%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Box 32"/>
          <p:cNvSpPr/>
          <p:nvPr/>
        </p:nvSpPr>
        <p:spPr>
          <a:xfrm>
            <a:off x="5413320" y="2688480"/>
            <a:ext cx="98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80" spc="-1" strike="noStrike">
                <a:solidFill>
                  <a:srgbClr val="34454f"/>
                </a:solidFill>
                <a:latin typeface="Aptos"/>
              </a:rPr>
              <a:t>duplicidade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Rounded Rectangle 33"/>
          <p:cNvSpPr/>
          <p:nvPr/>
        </p:nvSpPr>
        <p:spPr>
          <a:xfrm>
            <a:off x="6720840" y="2560320"/>
            <a:ext cx="1846800" cy="658080"/>
          </a:xfrm>
          <a:prstGeom prst="roundRect">
            <a:avLst>
              <a:gd name="adj" fmla="val 16667"/>
            </a:avLst>
          </a:prstGeom>
          <a:solidFill>
            <a:srgbClr val="f1ee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35" name="TextBox 34"/>
          <p:cNvSpPr/>
          <p:nvPr/>
        </p:nvSpPr>
        <p:spPr>
          <a:xfrm>
            <a:off x="6812280" y="2697480"/>
            <a:ext cx="658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7b61ff"/>
                </a:solidFill>
                <a:latin typeface="Aptos"/>
              </a:rPr>
              <a:t>−</a:t>
            </a:r>
            <a:r>
              <a:rPr b="1" lang="pt-BR" sz="1400" spc="-1" strike="noStrike">
                <a:solidFill>
                  <a:srgbClr val="7b61ff"/>
                </a:solidFill>
                <a:latin typeface="Aptos"/>
              </a:rPr>
              <a:t>9,5%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Box 35"/>
          <p:cNvSpPr/>
          <p:nvPr/>
        </p:nvSpPr>
        <p:spPr>
          <a:xfrm>
            <a:off x="7470720" y="2688480"/>
            <a:ext cx="98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780" spc="-1" strike="noStrike">
                <a:solidFill>
                  <a:srgbClr val="34454f"/>
                </a:solidFill>
                <a:latin typeface="Aptos"/>
              </a:rPr>
              <a:t>NDCG de conteúdo</a:t>
            </a:r>
            <a:endParaRPr b="0" lang="pt-BR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Rounded Rectangle 36"/>
          <p:cNvSpPr/>
          <p:nvPr/>
        </p:nvSpPr>
        <p:spPr>
          <a:xfrm>
            <a:off x="594360" y="3493080"/>
            <a:ext cx="3794400" cy="84096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38" name="TextBox 37"/>
          <p:cNvSpPr/>
          <p:nvPr/>
        </p:nvSpPr>
        <p:spPr>
          <a:xfrm>
            <a:off x="740520" y="3639240"/>
            <a:ext cx="3501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006633"/>
                </a:solidFill>
                <a:latin typeface="Aptos"/>
              </a:rPr>
              <a:t>COMO A OBSERVABILIDADE AJUDA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Box 38"/>
          <p:cNvSpPr/>
          <p:nvPr/>
        </p:nvSpPr>
        <p:spPr>
          <a:xfrm>
            <a:off x="740520" y="3931920"/>
            <a:ext cx="3501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Regras de dados detectam o lote; a quarentena impede sua incorporação e restaura o score 1,000.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Rounded Rectangle 39"/>
          <p:cNvSpPr/>
          <p:nvPr/>
        </p:nvSpPr>
        <p:spPr>
          <a:xfrm>
            <a:off x="4681800" y="3493080"/>
            <a:ext cx="3840120" cy="840960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41" name="TextBox 40"/>
          <p:cNvSpPr/>
          <p:nvPr/>
        </p:nvSpPr>
        <p:spPr>
          <a:xfrm>
            <a:off x="4827960" y="3639240"/>
            <a:ext cx="3547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044299"/>
                </a:solidFill>
                <a:latin typeface="Aptos"/>
              </a:rPr>
              <a:t>LEITURA CORRETA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Box 41"/>
          <p:cNvSpPr/>
          <p:nvPr/>
        </p:nvSpPr>
        <p:spPr>
          <a:xfrm>
            <a:off x="4827960" y="3931920"/>
            <a:ext cx="3547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A oscilação de uma métrica de ranking isolada não substitui a medição direta da saúde dos dados.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42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abas Dados e Qualidade da bateria medida em 19/10/2026.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RESULTADOS OBTIDOS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Drift: a distribuição muda e o ranking sente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46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547" name="TextBox 4"/>
          <p:cNvSpPr/>
          <p:nvPr/>
        </p:nvSpPr>
        <p:spPr>
          <a:xfrm>
            <a:off x="530280" y="1179720"/>
            <a:ext cx="3885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Nota média do snapshot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Rounded Rectangle 5"/>
          <p:cNvSpPr/>
          <p:nvPr/>
        </p:nvSpPr>
        <p:spPr>
          <a:xfrm>
            <a:off x="530280" y="1435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49" name="TextBox 6"/>
          <p:cNvSpPr/>
          <p:nvPr/>
        </p:nvSpPr>
        <p:spPr>
          <a:xfrm>
            <a:off x="567000" y="153612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Box 7"/>
          <p:cNvSpPr/>
          <p:nvPr/>
        </p:nvSpPr>
        <p:spPr>
          <a:xfrm>
            <a:off x="567000" y="1737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3.822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Rounded Rectangle 8"/>
          <p:cNvSpPr/>
          <p:nvPr/>
        </p:nvSpPr>
        <p:spPr>
          <a:xfrm>
            <a:off x="1843920" y="1435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52" name="TextBox 9"/>
          <p:cNvSpPr/>
          <p:nvPr/>
        </p:nvSpPr>
        <p:spPr>
          <a:xfrm>
            <a:off x="1880640" y="153612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Box 10"/>
          <p:cNvSpPr/>
          <p:nvPr/>
        </p:nvSpPr>
        <p:spPr>
          <a:xfrm>
            <a:off x="1880640" y="1737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4.182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ounded Rectangle 11"/>
          <p:cNvSpPr/>
          <p:nvPr/>
        </p:nvSpPr>
        <p:spPr>
          <a:xfrm>
            <a:off x="3157560" y="1435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55" name="TextBox 12"/>
          <p:cNvSpPr/>
          <p:nvPr/>
        </p:nvSpPr>
        <p:spPr>
          <a:xfrm>
            <a:off x="3194280" y="153612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Box 13"/>
          <p:cNvSpPr/>
          <p:nvPr/>
        </p:nvSpPr>
        <p:spPr>
          <a:xfrm>
            <a:off x="3194280" y="1737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3.822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Box 14"/>
          <p:cNvSpPr/>
          <p:nvPr/>
        </p:nvSpPr>
        <p:spPr>
          <a:xfrm>
            <a:off x="4718160" y="1179720"/>
            <a:ext cx="3885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Conteúdo — NDCG@10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Rounded Rectangle 15"/>
          <p:cNvSpPr/>
          <p:nvPr/>
        </p:nvSpPr>
        <p:spPr>
          <a:xfrm>
            <a:off x="4718160" y="1435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59" name="TextBox 16"/>
          <p:cNvSpPr/>
          <p:nvPr/>
        </p:nvSpPr>
        <p:spPr>
          <a:xfrm>
            <a:off x="4754880" y="153612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Box 17"/>
          <p:cNvSpPr/>
          <p:nvPr/>
        </p:nvSpPr>
        <p:spPr>
          <a:xfrm>
            <a:off x="4754880" y="1737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0.032474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Rounded Rectangle 18"/>
          <p:cNvSpPr/>
          <p:nvPr/>
        </p:nvSpPr>
        <p:spPr>
          <a:xfrm>
            <a:off x="6032160" y="1435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62" name="TextBox 19"/>
          <p:cNvSpPr/>
          <p:nvPr/>
        </p:nvSpPr>
        <p:spPr>
          <a:xfrm>
            <a:off x="6068520" y="153612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Box 20"/>
          <p:cNvSpPr/>
          <p:nvPr/>
        </p:nvSpPr>
        <p:spPr>
          <a:xfrm>
            <a:off x="6068520" y="1737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0.026021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Rounded Rectangle 21"/>
          <p:cNvSpPr/>
          <p:nvPr/>
        </p:nvSpPr>
        <p:spPr>
          <a:xfrm>
            <a:off x="7345800" y="1435680"/>
            <a:ext cx="125856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65" name="TextBox 22"/>
          <p:cNvSpPr/>
          <p:nvPr/>
        </p:nvSpPr>
        <p:spPr>
          <a:xfrm>
            <a:off x="7382160" y="1536120"/>
            <a:ext cx="118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Box 23"/>
          <p:cNvSpPr/>
          <p:nvPr/>
        </p:nvSpPr>
        <p:spPr>
          <a:xfrm>
            <a:off x="7382160" y="1737360"/>
            <a:ext cx="11854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0.032474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Rounded Rectangle 24"/>
          <p:cNvSpPr/>
          <p:nvPr/>
        </p:nvSpPr>
        <p:spPr>
          <a:xfrm>
            <a:off x="658440" y="2532960"/>
            <a:ext cx="3675600" cy="968760"/>
          </a:xfrm>
          <a:prstGeom prst="roundRect">
            <a:avLst>
              <a:gd name="adj" fmla="val 16667"/>
            </a:avLst>
          </a:prstGeom>
          <a:solidFill>
            <a:srgbClr val="f1ee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68" name="TextBox 25"/>
          <p:cNvSpPr/>
          <p:nvPr/>
        </p:nvSpPr>
        <p:spPr>
          <a:xfrm>
            <a:off x="896040" y="273420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7b61ff"/>
                </a:solidFill>
                <a:latin typeface="Aptos"/>
              </a:rPr>
              <a:t>IMPACTO NO ITEM–ITEM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Box 26"/>
          <p:cNvSpPr/>
          <p:nvPr/>
        </p:nvSpPr>
        <p:spPr>
          <a:xfrm>
            <a:off x="896040" y="303588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172433"/>
                </a:solidFill>
                <a:latin typeface="Aptos"/>
              </a:rPr>
              <a:t>0.009643  →  0.000000  →  0.009643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Rounded Rectangle 27"/>
          <p:cNvSpPr/>
          <p:nvPr/>
        </p:nvSpPr>
        <p:spPr>
          <a:xfrm>
            <a:off x="4645080" y="2532960"/>
            <a:ext cx="3840120" cy="96876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71" name="TextBox 28"/>
          <p:cNvSpPr/>
          <p:nvPr/>
        </p:nvSpPr>
        <p:spPr>
          <a:xfrm>
            <a:off x="4883040" y="27342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006633"/>
                </a:solidFill>
                <a:latin typeface="Aptos"/>
              </a:rPr>
              <a:t>RESPOSTA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Box 29"/>
          <p:cNvSpPr/>
          <p:nvPr/>
        </p:nvSpPr>
        <p:spPr>
          <a:xfrm>
            <a:off x="4883040" y="2990160"/>
            <a:ext cx="336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00" spc="-1" strike="noStrike">
                <a:solidFill>
                  <a:srgbClr val="004a2a"/>
                </a:solidFill>
                <a:latin typeface="Aptos"/>
              </a:rPr>
              <a:t>A mudança estatística aciona rollback para o snapshot íntegro e restaura os dois modelos.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Box 30"/>
          <p:cNvSpPr/>
          <p:nvPr/>
        </p:nvSpPr>
        <p:spPr>
          <a:xfrm>
            <a:off x="804600" y="3904560"/>
            <a:ext cx="753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100" spc="-1" strike="noStrike">
                <a:solidFill>
                  <a:srgbClr val="172433"/>
                </a:solidFill>
                <a:latin typeface="Aptos"/>
              </a:rPr>
              <a:t>Conteúdo perdeu 19,9% de NDCG; item–item perdeu 100%. Em ambos, a condição observável retornou ao valor inicial.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Box 31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abas Dados e Qualidade da bateria medida em 19/10/2026.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RESULTADOS OBTIDOS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Latência: resposta parcial, sem perda de relevância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7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578" name="TextBox 4"/>
          <p:cNvSpPr/>
          <p:nvPr/>
        </p:nvSpPr>
        <p:spPr>
          <a:xfrm>
            <a:off x="640080" y="118872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p95 médio dos três modelos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Rounded Rectangle 5"/>
          <p:cNvSpPr/>
          <p:nvPr/>
        </p:nvSpPr>
        <p:spPr>
          <a:xfrm>
            <a:off x="640080" y="144468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80" name="TextBox 6"/>
          <p:cNvSpPr/>
          <p:nvPr/>
        </p:nvSpPr>
        <p:spPr>
          <a:xfrm>
            <a:off x="676800" y="154548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Box 7"/>
          <p:cNvSpPr/>
          <p:nvPr/>
        </p:nvSpPr>
        <p:spPr>
          <a:xfrm>
            <a:off x="676800" y="1746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35.81 ms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Rounded Rectangle 8"/>
          <p:cNvSpPr/>
          <p:nvPr/>
        </p:nvSpPr>
        <p:spPr>
          <a:xfrm>
            <a:off x="1938600" y="144468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83" name="TextBox 9"/>
          <p:cNvSpPr/>
          <p:nvPr/>
        </p:nvSpPr>
        <p:spPr>
          <a:xfrm>
            <a:off x="1974960" y="154548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Box 10"/>
          <p:cNvSpPr/>
          <p:nvPr/>
        </p:nvSpPr>
        <p:spPr>
          <a:xfrm>
            <a:off x="1974960" y="1746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88.54 ms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Rounded Rectangle 11"/>
          <p:cNvSpPr/>
          <p:nvPr/>
        </p:nvSpPr>
        <p:spPr>
          <a:xfrm>
            <a:off x="3237120" y="144468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86" name="TextBox 12"/>
          <p:cNvSpPr/>
          <p:nvPr/>
        </p:nvSpPr>
        <p:spPr>
          <a:xfrm>
            <a:off x="3273480" y="154548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Box 13"/>
          <p:cNvSpPr/>
          <p:nvPr/>
        </p:nvSpPr>
        <p:spPr>
          <a:xfrm>
            <a:off x="3273480" y="1746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78.31 ms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Rounded Rectangle 14"/>
          <p:cNvSpPr/>
          <p:nvPr/>
        </p:nvSpPr>
        <p:spPr>
          <a:xfrm>
            <a:off x="4736520" y="1179720"/>
            <a:ext cx="3767040" cy="89568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89" name="TextBox 15"/>
          <p:cNvSpPr/>
          <p:nvPr/>
        </p:nvSpPr>
        <p:spPr>
          <a:xfrm>
            <a:off x="4883040" y="132588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f4872d"/>
                </a:solidFill>
                <a:latin typeface="Aptos"/>
              </a:rPr>
              <a:t>O QUE OCORREU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Box 16"/>
          <p:cNvSpPr/>
          <p:nvPr/>
        </p:nvSpPr>
        <p:spPr>
          <a:xfrm>
            <a:off x="4883040" y="161856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O atraso elevou o p95 em 147%. Circuit breaker e desvio do caminho degradado reduziram 11,5% da latência atacada.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Box 17"/>
          <p:cNvSpPr/>
          <p:nvPr/>
        </p:nvSpPr>
        <p:spPr>
          <a:xfrm>
            <a:off x="658440" y="239580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004a2a"/>
                </a:solidFill>
                <a:latin typeface="Aptos"/>
              </a:rPr>
              <a:t>p95 por modelo (ms)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Rectangle 18"/>
          <p:cNvSpPr/>
          <p:nvPr/>
        </p:nvSpPr>
        <p:spPr>
          <a:xfrm>
            <a:off x="658440" y="2679120"/>
            <a:ext cx="3062880" cy="347040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93" name="TextBox 19"/>
          <p:cNvSpPr/>
          <p:nvPr/>
        </p:nvSpPr>
        <p:spPr>
          <a:xfrm>
            <a:off x="704160" y="2779920"/>
            <a:ext cx="2971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750" spc="-1" strike="noStrike">
                <a:solidFill>
                  <a:srgbClr val="ffffff"/>
                </a:solidFill>
                <a:latin typeface="Aptos"/>
              </a:rPr>
              <a:t>Modelo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Rectangle 20"/>
          <p:cNvSpPr/>
          <p:nvPr/>
        </p:nvSpPr>
        <p:spPr>
          <a:xfrm>
            <a:off x="3721680" y="2679120"/>
            <a:ext cx="1371240" cy="347040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95" name="TextBox 21"/>
          <p:cNvSpPr/>
          <p:nvPr/>
        </p:nvSpPr>
        <p:spPr>
          <a:xfrm>
            <a:off x="3767400" y="277992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750" spc="-1" strike="noStrike">
                <a:solidFill>
                  <a:srgbClr val="ffffff"/>
                </a:solidFill>
                <a:latin typeface="Aptos"/>
              </a:rPr>
              <a:t>Inicial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Rectangle 22"/>
          <p:cNvSpPr/>
          <p:nvPr/>
        </p:nvSpPr>
        <p:spPr>
          <a:xfrm>
            <a:off x="5093280" y="2679120"/>
            <a:ext cx="1371240" cy="347040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97" name="TextBox 23"/>
          <p:cNvSpPr/>
          <p:nvPr/>
        </p:nvSpPr>
        <p:spPr>
          <a:xfrm>
            <a:off x="5139000" y="277992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750" spc="-1" strike="noStrike">
                <a:solidFill>
                  <a:srgbClr val="ffffff"/>
                </a:solidFill>
                <a:latin typeface="Aptos"/>
              </a:rPr>
              <a:t>Sem obs.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Rectangle 24"/>
          <p:cNvSpPr/>
          <p:nvPr/>
        </p:nvSpPr>
        <p:spPr>
          <a:xfrm>
            <a:off x="6464880" y="2679120"/>
            <a:ext cx="1371240" cy="347040"/>
          </a:xfrm>
          <a:prstGeom prst="rect">
            <a:avLst/>
          </a:prstGeom>
          <a:solidFill>
            <a:srgbClr val="004a2a"/>
          </a:solidFill>
          <a:ln w="10160">
            <a:solidFill>
              <a:srgbClr val="004a2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99" name="TextBox 25"/>
          <p:cNvSpPr/>
          <p:nvPr/>
        </p:nvSpPr>
        <p:spPr>
          <a:xfrm>
            <a:off x="6510600" y="277992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750" spc="-1" strike="noStrike">
                <a:solidFill>
                  <a:srgbClr val="ffffff"/>
                </a:solidFill>
                <a:latin typeface="Aptos"/>
              </a:rPr>
              <a:t>Com obs.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Rectangle 26"/>
          <p:cNvSpPr/>
          <p:nvPr/>
        </p:nvSpPr>
        <p:spPr>
          <a:xfrm>
            <a:off x="658440" y="3026520"/>
            <a:ext cx="3062880" cy="347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01" name="TextBox 27"/>
          <p:cNvSpPr/>
          <p:nvPr/>
        </p:nvSpPr>
        <p:spPr>
          <a:xfrm>
            <a:off x="704160" y="3127320"/>
            <a:ext cx="2971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750" spc="-1" strike="noStrike">
                <a:solidFill>
                  <a:srgbClr val="172433"/>
                </a:solidFill>
                <a:latin typeface="Aptos"/>
              </a:rPr>
              <a:t>Popularidade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Rectangle 28"/>
          <p:cNvSpPr/>
          <p:nvPr/>
        </p:nvSpPr>
        <p:spPr>
          <a:xfrm>
            <a:off x="3721680" y="3026520"/>
            <a:ext cx="1371240" cy="347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03" name="TextBox 29"/>
          <p:cNvSpPr/>
          <p:nvPr/>
        </p:nvSpPr>
        <p:spPr>
          <a:xfrm>
            <a:off x="3767400" y="312732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1.425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Rectangle 30"/>
          <p:cNvSpPr/>
          <p:nvPr/>
        </p:nvSpPr>
        <p:spPr>
          <a:xfrm>
            <a:off x="5093280" y="3026520"/>
            <a:ext cx="1371240" cy="347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05" name="TextBox 31"/>
          <p:cNvSpPr/>
          <p:nvPr/>
        </p:nvSpPr>
        <p:spPr>
          <a:xfrm>
            <a:off x="5139000" y="312732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54.985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Rectangle 32"/>
          <p:cNvSpPr/>
          <p:nvPr/>
        </p:nvSpPr>
        <p:spPr>
          <a:xfrm>
            <a:off x="6464880" y="3026520"/>
            <a:ext cx="1371240" cy="347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07" name="TextBox 33"/>
          <p:cNvSpPr/>
          <p:nvPr/>
        </p:nvSpPr>
        <p:spPr>
          <a:xfrm>
            <a:off x="6510600" y="312732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50.894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Rectangle 34"/>
          <p:cNvSpPr/>
          <p:nvPr/>
        </p:nvSpPr>
        <p:spPr>
          <a:xfrm>
            <a:off x="658440" y="3392280"/>
            <a:ext cx="3062880" cy="347040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09" name="TextBox 35"/>
          <p:cNvSpPr/>
          <p:nvPr/>
        </p:nvSpPr>
        <p:spPr>
          <a:xfrm>
            <a:off x="704160" y="3493080"/>
            <a:ext cx="2971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750" spc="-1" strike="noStrike">
                <a:solidFill>
                  <a:srgbClr val="172433"/>
                </a:solidFill>
                <a:latin typeface="Aptos"/>
              </a:rPr>
              <a:t>Conteúdo por tags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Rectangle 36"/>
          <p:cNvSpPr/>
          <p:nvPr/>
        </p:nvSpPr>
        <p:spPr>
          <a:xfrm>
            <a:off x="3721680" y="3392280"/>
            <a:ext cx="1371240" cy="347040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11" name="TextBox 37"/>
          <p:cNvSpPr/>
          <p:nvPr/>
        </p:nvSpPr>
        <p:spPr>
          <a:xfrm>
            <a:off x="3767400" y="349308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71.414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ectangle 38"/>
          <p:cNvSpPr/>
          <p:nvPr/>
        </p:nvSpPr>
        <p:spPr>
          <a:xfrm>
            <a:off x="5093280" y="3392280"/>
            <a:ext cx="1371240" cy="347040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13" name="TextBox 39"/>
          <p:cNvSpPr/>
          <p:nvPr/>
        </p:nvSpPr>
        <p:spPr>
          <a:xfrm>
            <a:off x="5139000" y="349308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128.843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Rectangle 40"/>
          <p:cNvSpPr/>
          <p:nvPr/>
        </p:nvSpPr>
        <p:spPr>
          <a:xfrm>
            <a:off x="6464880" y="3392280"/>
            <a:ext cx="1371240" cy="347040"/>
          </a:xfrm>
          <a:prstGeom prst="rect">
            <a:avLst/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15" name="TextBox 41"/>
          <p:cNvSpPr/>
          <p:nvPr/>
        </p:nvSpPr>
        <p:spPr>
          <a:xfrm>
            <a:off x="6510600" y="349308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114.361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Rectangle 42"/>
          <p:cNvSpPr/>
          <p:nvPr/>
        </p:nvSpPr>
        <p:spPr>
          <a:xfrm>
            <a:off x="658440" y="3758040"/>
            <a:ext cx="3062880" cy="347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17" name="TextBox 43"/>
          <p:cNvSpPr/>
          <p:nvPr/>
        </p:nvSpPr>
        <p:spPr>
          <a:xfrm>
            <a:off x="704160" y="3858840"/>
            <a:ext cx="2971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750" spc="-1" strike="noStrike">
                <a:solidFill>
                  <a:srgbClr val="172433"/>
                </a:solidFill>
                <a:latin typeface="Aptos"/>
              </a:rPr>
              <a:t>Colaborativo item-item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Rectangle 44"/>
          <p:cNvSpPr/>
          <p:nvPr/>
        </p:nvSpPr>
        <p:spPr>
          <a:xfrm>
            <a:off x="3721680" y="3758040"/>
            <a:ext cx="1371240" cy="347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19" name="TextBox 45"/>
          <p:cNvSpPr/>
          <p:nvPr/>
        </p:nvSpPr>
        <p:spPr>
          <a:xfrm>
            <a:off x="3767400" y="385884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34.592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Rectangle 46"/>
          <p:cNvSpPr/>
          <p:nvPr/>
        </p:nvSpPr>
        <p:spPr>
          <a:xfrm>
            <a:off x="5093280" y="3758040"/>
            <a:ext cx="1371240" cy="347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21" name="TextBox 47"/>
          <p:cNvSpPr/>
          <p:nvPr/>
        </p:nvSpPr>
        <p:spPr>
          <a:xfrm>
            <a:off x="5139000" y="385884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81.790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Rectangle 48"/>
          <p:cNvSpPr/>
          <p:nvPr/>
        </p:nvSpPr>
        <p:spPr>
          <a:xfrm>
            <a:off x="6464880" y="3758040"/>
            <a:ext cx="1371240" cy="347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23" name="TextBox 49"/>
          <p:cNvSpPr/>
          <p:nvPr/>
        </p:nvSpPr>
        <p:spPr>
          <a:xfrm>
            <a:off x="6510600" y="3858840"/>
            <a:ext cx="12798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50" spc="-1" strike="noStrike">
                <a:solidFill>
                  <a:srgbClr val="34454f"/>
                </a:solidFill>
                <a:latin typeface="Aptos"/>
              </a:rPr>
              <a:t>69.685</a:t>
            </a:r>
            <a:endParaRPr b="0" lang="pt-B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Rounded Rectangle 50"/>
          <p:cNvSpPr/>
          <p:nvPr/>
        </p:nvSpPr>
        <p:spPr>
          <a:xfrm>
            <a:off x="658440" y="4224600"/>
            <a:ext cx="7826760" cy="292320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0160">
            <a:solidFill>
              <a:srgbClr val="eaf3f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25" name="TextBox 51"/>
          <p:cNvSpPr/>
          <p:nvPr/>
        </p:nvSpPr>
        <p:spPr>
          <a:xfrm>
            <a:off x="859680" y="4297680"/>
            <a:ext cx="7424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30" spc="-1" strike="noStrike">
                <a:solidFill>
                  <a:srgbClr val="044299"/>
                </a:solidFill>
                <a:latin typeface="Aptos"/>
              </a:rPr>
              <a:t>NDCG permaneceu igual: esse ataque degrada tempo de resposta, não a ordem do ranking. A disponibilidade ficou em 100%.</a:t>
            </a:r>
            <a:endParaRPr b="0" lang="pt-BR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Box 52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abas Operação e Qualidade da bateria medida em 19/10/2026.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RESULTADOS OBTIDOS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Indisponibilidade: disponibilidade × relevância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9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630" name="TextBox 4"/>
          <p:cNvSpPr/>
          <p:nvPr/>
        </p:nvSpPr>
        <p:spPr>
          <a:xfrm>
            <a:off x="567000" y="117036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Disponibilidade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Rounded Rectangle 5"/>
          <p:cNvSpPr/>
          <p:nvPr/>
        </p:nvSpPr>
        <p:spPr>
          <a:xfrm>
            <a:off x="567000" y="142632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32" name="TextBox 6"/>
          <p:cNvSpPr/>
          <p:nvPr/>
        </p:nvSpPr>
        <p:spPr>
          <a:xfrm>
            <a:off x="603360" y="152712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Box 7"/>
          <p:cNvSpPr/>
          <p:nvPr/>
        </p:nvSpPr>
        <p:spPr>
          <a:xfrm>
            <a:off x="603360" y="1728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100%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Rounded Rectangle 8"/>
          <p:cNvSpPr/>
          <p:nvPr/>
        </p:nvSpPr>
        <p:spPr>
          <a:xfrm>
            <a:off x="1865520" y="142632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35" name="TextBox 9"/>
          <p:cNvSpPr/>
          <p:nvPr/>
        </p:nvSpPr>
        <p:spPr>
          <a:xfrm>
            <a:off x="1901880" y="152712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Box 10"/>
          <p:cNvSpPr/>
          <p:nvPr/>
        </p:nvSpPr>
        <p:spPr>
          <a:xfrm>
            <a:off x="1901880" y="1728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41%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Rounded Rectangle 11"/>
          <p:cNvSpPr/>
          <p:nvPr/>
        </p:nvSpPr>
        <p:spPr>
          <a:xfrm>
            <a:off x="3163680" y="142632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38" name="TextBox 12"/>
          <p:cNvSpPr/>
          <p:nvPr/>
        </p:nvSpPr>
        <p:spPr>
          <a:xfrm>
            <a:off x="3200400" y="152712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Box 13"/>
          <p:cNvSpPr/>
          <p:nvPr/>
        </p:nvSpPr>
        <p:spPr>
          <a:xfrm>
            <a:off x="3200400" y="1728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99%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Box 14"/>
          <p:cNvSpPr/>
          <p:nvPr/>
        </p:nvSpPr>
        <p:spPr>
          <a:xfrm>
            <a:off x="4736520" y="117036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00" spc="-1" strike="noStrike">
                <a:solidFill>
                  <a:srgbClr val="004a2a"/>
                </a:solidFill>
                <a:latin typeface="Aptos"/>
              </a:rPr>
              <a:t>Falhas agregadas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Rounded Rectangle 15"/>
          <p:cNvSpPr/>
          <p:nvPr/>
        </p:nvSpPr>
        <p:spPr>
          <a:xfrm>
            <a:off x="4736520" y="142632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42" name="TextBox 16"/>
          <p:cNvSpPr/>
          <p:nvPr/>
        </p:nvSpPr>
        <p:spPr>
          <a:xfrm>
            <a:off x="4773240" y="152712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INICIAL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Box 17"/>
          <p:cNvSpPr/>
          <p:nvPr/>
        </p:nvSpPr>
        <p:spPr>
          <a:xfrm>
            <a:off x="4773240" y="1728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Rounded Rectangle 18"/>
          <p:cNvSpPr/>
          <p:nvPr/>
        </p:nvSpPr>
        <p:spPr>
          <a:xfrm>
            <a:off x="6035040" y="142632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45" name="TextBox 19"/>
          <p:cNvSpPr/>
          <p:nvPr/>
        </p:nvSpPr>
        <p:spPr>
          <a:xfrm>
            <a:off x="6071760" y="152712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SEM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Box 20"/>
          <p:cNvSpPr/>
          <p:nvPr/>
        </p:nvSpPr>
        <p:spPr>
          <a:xfrm>
            <a:off x="6071760" y="1728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177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Rounded Rectangle 21"/>
          <p:cNvSpPr/>
          <p:nvPr/>
        </p:nvSpPr>
        <p:spPr>
          <a:xfrm>
            <a:off x="7333560" y="1426320"/>
            <a:ext cx="124308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48" name="TextBox 22"/>
          <p:cNvSpPr/>
          <p:nvPr/>
        </p:nvSpPr>
        <p:spPr>
          <a:xfrm>
            <a:off x="7369920" y="1527120"/>
            <a:ext cx="117000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650" spc="-1" strike="noStrike">
                <a:solidFill>
                  <a:srgbClr val="707d84"/>
                </a:solidFill>
                <a:latin typeface="Aptos"/>
              </a:rPr>
              <a:t>COM OBS.</a:t>
            </a:r>
            <a:endParaRPr b="0" lang="pt-BR" sz="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Box 23"/>
          <p:cNvSpPr/>
          <p:nvPr/>
        </p:nvSpPr>
        <p:spPr>
          <a:xfrm>
            <a:off x="7369920" y="1728360"/>
            <a:ext cx="1170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06633"/>
                </a:solidFill>
                <a:latin typeface="Aptos"/>
              </a:rPr>
              <a:t>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Rounded Rectangle 24"/>
          <p:cNvSpPr/>
          <p:nvPr/>
        </p:nvSpPr>
        <p:spPr>
          <a:xfrm>
            <a:off x="621720" y="2541960"/>
            <a:ext cx="3730320" cy="98712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51" name="TextBox 25"/>
          <p:cNvSpPr/>
          <p:nvPr/>
        </p:nvSpPr>
        <p:spPr>
          <a:xfrm>
            <a:off x="859680" y="2743200"/>
            <a:ext cx="1481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006633"/>
                </a:solidFill>
                <a:latin typeface="Aptos"/>
              </a:rPr>
              <a:t>GANHO OPERACIONAL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Box 26"/>
          <p:cNvSpPr/>
          <p:nvPr/>
        </p:nvSpPr>
        <p:spPr>
          <a:xfrm>
            <a:off x="859680" y="302652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030" spc="-1" strike="noStrike">
                <a:solidFill>
                  <a:srgbClr val="004a2a"/>
                </a:solidFill>
                <a:latin typeface="Aptos"/>
              </a:rPr>
              <a:t>Fallback por popularidade recuperou +58 pontos percentuais de disponibilidade e reduziu as falhas em 98,3%.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Rounded Rectangle 27"/>
          <p:cNvSpPr/>
          <p:nvPr/>
        </p:nvSpPr>
        <p:spPr>
          <a:xfrm>
            <a:off x="4626720" y="2541960"/>
            <a:ext cx="3858480" cy="98712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54" name="TextBox 28"/>
          <p:cNvSpPr/>
          <p:nvPr/>
        </p:nvSpPr>
        <p:spPr>
          <a:xfrm>
            <a:off x="4864680" y="2743200"/>
            <a:ext cx="1554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f4872d"/>
                </a:solidFill>
                <a:latin typeface="Aptos"/>
              </a:rPr>
              <a:t>CUSTO NA RELEVÂNCIA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Box 29"/>
          <p:cNvSpPr/>
          <p:nvPr/>
        </p:nvSpPr>
        <p:spPr>
          <a:xfrm>
            <a:off x="4864680" y="2990160"/>
            <a:ext cx="3382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60" spc="-1" strike="noStrike">
                <a:solidFill>
                  <a:srgbClr val="172433"/>
                </a:solidFill>
                <a:latin typeface="Aptos"/>
              </a:rPr>
              <a:t>Conteúdo: 0.032474 → 0.000000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960" spc="-1" strike="noStrike">
                <a:solidFill>
                  <a:srgbClr val="172433"/>
                </a:solidFill>
                <a:latin typeface="Aptos"/>
              </a:rPr>
              <a:t>Item–item: 0.009643 → 0.000000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Rounded Rectangle 30"/>
          <p:cNvSpPr/>
          <p:nvPr/>
        </p:nvSpPr>
        <p:spPr>
          <a:xfrm>
            <a:off x="658440" y="3867840"/>
            <a:ext cx="7826760" cy="475200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57" name="TextBox 31"/>
          <p:cNvSpPr/>
          <p:nvPr/>
        </p:nvSpPr>
        <p:spPr>
          <a:xfrm>
            <a:off x="896040" y="3986640"/>
            <a:ext cx="735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70" spc="-1" strike="noStrike">
                <a:solidFill>
                  <a:srgbClr val="044299"/>
                </a:solidFill>
                <a:latin typeface="Aptos"/>
              </a:rPr>
              <a:t>A observabilidade manteve o serviço respondendo, mas o fallback disponível não preservou a personalização. Disponibilidade e qualidade devem ser acompanhadas juntas.</a:t>
            </a:r>
            <a:endParaRPr b="0" lang="pt-BR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Box 32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abas Operação e Qualidade da bateria medida em 19/10/2026.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RESULTADOS OBTIDOS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Síntese da qualidade de recomendação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61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662" name="Rounded Rectangle 4"/>
          <p:cNvSpPr/>
          <p:nvPr/>
        </p:nvSpPr>
        <p:spPr>
          <a:xfrm>
            <a:off x="612720" y="1170360"/>
            <a:ext cx="24868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63" name="TextBox 5"/>
          <p:cNvSpPr/>
          <p:nvPr/>
        </p:nvSpPr>
        <p:spPr>
          <a:xfrm>
            <a:off x="758880" y="13442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4872d"/>
                </a:solidFill>
                <a:latin typeface="Aptos"/>
              </a:rPr>
              <a:t>Popularidade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Box 6"/>
          <p:cNvSpPr/>
          <p:nvPr/>
        </p:nvSpPr>
        <p:spPr>
          <a:xfrm>
            <a:off x="758880" y="17006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172433"/>
                </a:solidFill>
                <a:latin typeface="Aptos"/>
              </a:rPr>
              <a:t>NDCG  0.000000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Box 7"/>
          <p:cNvSpPr/>
          <p:nvPr/>
        </p:nvSpPr>
        <p:spPr>
          <a:xfrm>
            <a:off x="758880" y="1993320"/>
            <a:ext cx="21942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cobertura  0.0011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Rounded Rectangle 8"/>
          <p:cNvSpPr/>
          <p:nvPr/>
        </p:nvSpPr>
        <p:spPr>
          <a:xfrm>
            <a:off x="3401640" y="1170360"/>
            <a:ext cx="24868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67" name="TextBox 9"/>
          <p:cNvSpPr/>
          <p:nvPr/>
        </p:nvSpPr>
        <p:spPr>
          <a:xfrm>
            <a:off x="3547800" y="13442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044299"/>
                </a:solidFill>
                <a:latin typeface="Aptos"/>
              </a:rPr>
              <a:t>Conteúdo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Box 10"/>
          <p:cNvSpPr/>
          <p:nvPr/>
        </p:nvSpPr>
        <p:spPr>
          <a:xfrm>
            <a:off x="3547800" y="17006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172433"/>
                </a:solidFill>
                <a:latin typeface="Aptos"/>
              </a:rPr>
              <a:t>NDCG  0.032474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Box 11"/>
          <p:cNvSpPr/>
          <p:nvPr/>
        </p:nvSpPr>
        <p:spPr>
          <a:xfrm>
            <a:off x="3547800" y="1993320"/>
            <a:ext cx="21942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cobertura  0.0815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Rounded Rectangle 12"/>
          <p:cNvSpPr/>
          <p:nvPr/>
        </p:nvSpPr>
        <p:spPr>
          <a:xfrm>
            <a:off x="6190560" y="1170360"/>
            <a:ext cx="248688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71" name="TextBox 13"/>
          <p:cNvSpPr/>
          <p:nvPr/>
        </p:nvSpPr>
        <p:spPr>
          <a:xfrm>
            <a:off x="6336720" y="13442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7b61ff"/>
                </a:solidFill>
                <a:latin typeface="Aptos"/>
              </a:rPr>
              <a:t>Item–item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Box 14"/>
          <p:cNvSpPr/>
          <p:nvPr/>
        </p:nvSpPr>
        <p:spPr>
          <a:xfrm>
            <a:off x="6336720" y="170064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172433"/>
                </a:solidFill>
                <a:latin typeface="Aptos"/>
              </a:rPr>
              <a:t>NDCG  0.009643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Box 15"/>
          <p:cNvSpPr/>
          <p:nvPr/>
        </p:nvSpPr>
        <p:spPr>
          <a:xfrm>
            <a:off x="6336720" y="1993320"/>
            <a:ext cx="21942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800" spc="-1" strike="noStrike">
                <a:solidFill>
                  <a:srgbClr val="707d84"/>
                </a:solidFill>
                <a:latin typeface="Aptos"/>
              </a:rPr>
              <a:t>cobertura  0.0938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Box 16"/>
          <p:cNvSpPr/>
          <p:nvPr/>
        </p:nvSpPr>
        <p:spPr>
          <a:xfrm>
            <a:off x="685800" y="261504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100" spc="-1" strike="noStrike">
                <a:solidFill>
                  <a:srgbClr val="004a2a"/>
                </a:solidFill>
                <a:latin typeface="Aptos"/>
              </a:rPr>
              <a:t>NDCG inicial × cenário atacado nas 18 combinações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Rounded Rectangle 17"/>
          <p:cNvSpPr/>
          <p:nvPr/>
        </p:nvSpPr>
        <p:spPr>
          <a:xfrm>
            <a:off x="694800" y="2944440"/>
            <a:ext cx="1096920" cy="69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7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76" name="TextBox 18"/>
          <p:cNvSpPr/>
          <p:nvPr/>
        </p:nvSpPr>
        <p:spPr>
          <a:xfrm>
            <a:off x="768240" y="3063240"/>
            <a:ext cx="9507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f4872d"/>
                </a:solidFill>
                <a:latin typeface="Aptos"/>
              </a:rPr>
              <a:t>5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Box 19"/>
          <p:cNvSpPr/>
          <p:nvPr/>
        </p:nvSpPr>
        <p:spPr>
          <a:xfrm>
            <a:off x="758880" y="3364920"/>
            <a:ext cx="968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00" spc="-1" strike="noStrike">
                <a:solidFill>
                  <a:srgbClr val="707d84"/>
                </a:solidFill>
                <a:latin typeface="Aptos"/>
              </a:rPr>
              <a:t>quedas</a:t>
            </a:r>
            <a:endParaRPr b="0" lang="pt-B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Rounded Rectangle 20"/>
          <p:cNvSpPr/>
          <p:nvPr/>
        </p:nvSpPr>
        <p:spPr>
          <a:xfrm>
            <a:off x="1993320" y="2944440"/>
            <a:ext cx="1096920" cy="69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04429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79" name="TextBox 21"/>
          <p:cNvSpPr/>
          <p:nvPr/>
        </p:nvSpPr>
        <p:spPr>
          <a:xfrm>
            <a:off x="2066400" y="3063240"/>
            <a:ext cx="9507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044299"/>
                </a:solidFill>
                <a:latin typeface="Aptos"/>
              </a:rPr>
              <a:t>12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Box 22"/>
          <p:cNvSpPr/>
          <p:nvPr/>
        </p:nvSpPr>
        <p:spPr>
          <a:xfrm>
            <a:off x="2057400" y="3364920"/>
            <a:ext cx="968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00" spc="-1" strike="noStrike">
                <a:solidFill>
                  <a:srgbClr val="707d84"/>
                </a:solidFill>
                <a:latin typeface="Aptos"/>
              </a:rPr>
              <a:t>iguais</a:t>
            </a:r>
            <a:endParaRPr b="0" lang="pt-B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Rounded Rectangle 23"/>
          <p:cNvSpPr/>
          <p:nvPr/>
        </p:nvSpPr>
        <p:spPr>
          <a:xfrm>
            <a:off x="3291840" y="2944440"/>
            <a:ext cx="1096920" cy="69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7b61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82" name="TextBox 24"/>
          <p:cNvSpPr/>
          <p:nvPr/>
        </p:nvSpPr>
        <p:spPr>
          <a:xfrm>
            <a:off x="3364920" y="3063240"/>
            <a:ext cx="9507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700" spc="-1" strike="noStrike">
                <a:solidFill>
                  <a:srgbClr val="7b61ff"/>
                </a:solidFill>
                <a:latin typeface="Aptos"/>
              </a:rPr>
              <a:t>1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Box 25"/>
          <p:cNvSpPr/>
          <p:nvPr/>
        </p:nvSpPr>
        <p:spPr>
          <a:xfrm>
            <a:off x="3355920" y="3364920"/>
            <a:ext cx="968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700" spc="-1" strike="noStrike">
                <a:solidFill>
                  <a:srgbClr val="707d84"/>
                </a:solidFill>
                <a:latin typeface="Aptos"/>
              </a:rPr>
              <a:t>aumento isolado</a:t>
            </a:r>
            <a:endParaRPr b="0" lang="pt-B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Rounded Rectangle 26"/>
          <p:cNvSpPr/>
          <p:nvPr/>
        </p:nvSpPr>
        <p:spPr>
          <a:xfrm>
            <a:off x="4663440" y="2578680"/>
            <a:ext cx="3821760" cy="107856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0066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85" name="TextBox 27"/>
          <p:cNvSpPr/>
          <p:nvPr/>
        </p:nvSpPr>
        <p:spPr>
          <a:xfrm>
            <a:off x="4809600" y="2724840"/>
            <a:ext cx="3529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800" spc="-1" strike="noStrike">
                <a:solidFill>
                  <a:srgbClr val="006633"/>
                </a:solidFill>
                <a:latin typeface="Aptos"/>
              </a:rPr>
              <a:t>O QUE OS NÚMEROS DEMONSTRAM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Box 28"/>
          <p:cNvSpPr/>
          <p:nvPr/>
        </p:nvSpPr>
        <p:spPr>
          <a:xfrm>
            <a:off x="4809600" y="3017520"/>
            <a:ext cx="352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</a:pPr>
            <a:r>
              <a:rPr b="0" lang="pt-BR" sz="920" spc="-1" strike="noStrike">
                <a:solidFill>
                  <a:srgbClr val="34454f"/>
                </a:solidFill>
                <a:latin typeface="Aptos"/>
              </a:rPr>
              <a:t>Corrupção e drift degradaram a qualidade de modelos sensíveis e foram revertidos. Latência e push/nuke não alteraram o NDCG. Outage mostrou conflito entre disponibilidade e relevância.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Rounded Rectangle 29"/>
          <p:cNvSpPr/>
          <p:nvPr/>
        </p:nvSpPr>
        <p:spPr>
          <a:xfrm>
            <a:off x="658440" y="3996000"/>
            <a:ext cx="7826760" cy="411120"/>
          </a:xfrm>
          <a:prstGeom prst="roundRect">
            <a:avLst>
              <a:gd name="adj" fmla="val 16667"/>
            </a:avLst>
          </a:prstGeom>
          <a:solidFill>
            <a:srgbClr val="eaf3fa"/>
          </a:solidFill>
          <a:ln w="10160">
            <a:solidFill>
              <a:srgbClr val="eaf3f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88" name="TextBox 30"/>
          <p:cNvSpPr/>
          <p:nvPr/>
        </p:nvSpPr>
        <p:spPr>
          <a:xfrm>
            <a:off x="877680" y="4105800"/>
            <a:ext cx="7369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870" spc="-1" strike="noStrike">
                <a:solidFill>
                  <a:srgbClr val="044299"/>
                </a:solidFill>
                <a:latin typeface="Aptos"/>
              </a:rPr>
              <a:t>Um valor maior após corrupção no item–item foi uma oscilação isolada; não supera a evidência direta de dados inválidos e duplicados.</a:t>
            </a:r>
            <a:endParaRPr b="0" lang="pt-BR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Box 31"/>
          <p:cNvSpPr/>
          <p:nvPr/>
        </p:nvSpPr>
        <p:spPr>
          <a:xfrm>
            <a:off x="2743200" y="4883040"/>
            <a:ext cx="3977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i="1" lang="pt-BR" sz="580" spc="-1" strike="noStrike">
                <a:solidFill>
                  <a:srgbClr val="707d84"/>
                </a:solidFill>
                <a:latin typeface="Aptos"/>
              </a:rPr>
              <a:t>Fonte: aba Qualidade da bateria medida em 19/10/2026.</a:t>
            </a:r>
            <a:endParaRPr b="0" lang="pt-BR" sz="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DISCUSSÃO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Onde a observabilidade ajudou — e onde não bastou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2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693" name="Rounded Rectangle 4"/>
          <p:cNvSpPr/>
          <p:nvPr/>
        </p:nvSpPr>
        <p:spPr>
          <a:xfrm>
            <a:off x="612720" y="1170360"/>
            <a:ext cx="7918200" cy="49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94" name="TextBox 5"/>
          <p:cNvSpPr/>
          <p:nvPr/>
        </p:nvSpPr>
        <p:spPr>
          <a:xfrm>
            <a:off x="804600" y="1316880"/>
            <a:ext cx="1261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006633"/>
                </a:solidFill>
                <a:latin typeface="Aptos"/>
              </a:rPr>
              <a:t>Corrupção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Box 6"/>
          <p:cNvSpPr/>
          <p:nvPr/>
        </p:nvSpPr>
        <p:spPr>
          <a:xfrm>
            <a:off x="2240280" y="131688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72433"/>
                </a:solidFill>
                <a:latin typeface="Aptos"/>
              </a:rPr>
              <a:t>Recuperação completa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Box 7"/>
          <p:cNvSpPr/>
          <p:nvPr/>
        </p:nvSpPr>
        <p:spPr>
          <a:xfrm>
            <a:off x="3950280" y="1316880"/>
            <a:ext cx="434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70" spc="-1" strike="noStrike">
                <a:solidFill>
                  <a:srgbClr val="34454f"/>
                </a:solidFill>
                <a:latin typeface="Aptos"/>
              </a:rPr>
              <a:t>quarentena restaurou score e NDCG de conteúdo</a:t>
            </a:r>
            <a:endParaRPr b="0" lang="pt-BR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Rounded Rectangle 8"/>
          <p:cNvSpPr/>
          <p:nvPr/>
        </p:nvSpPr>
        <p:spPr>
          <a:xfrm>
            <a:off x="612720" y="1792080"/>
            <a:ext cx="7918200" cy="49356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98" name="TextBox 9"/>
          <p:cNvSpPr/>
          <p:nvPr/>
        </p:nvSpPr>
        <p:spPr>
          <a:xfrm>
            <a:off x="804600" y="1938600"/>
            <a:ext cx="1261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006633"/>
                </a:solidFill>
                <a:latin typeface="Aptos"/>
              </a:rPr>
              <a:t>Drift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Box 10"/>
          <p:cNvSpPr/>
          <p:nvPr/>
        </p:nvSpPr>
        <p:spPr>
          <a:xfrm>
            <a:off x="2240280" y="193860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72433"/>
                </a:solidFill>
                <a:latin typeface="Aptos"/>
              </a:rPr>
              <a:t>Recuperação completa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Box 11"/>
          <p:cNvSpPr/>
          <p:nvPr/>
        </p:nvSpPr>
        <p:spPr>
          <a:xfrm>
            <a:off x="3950280" y="1938600"/>
            <a:ext cx="434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70" spc="-1" strike="noStrike">
                <a:solidFill>
                  <a:srgbClr val="34454f"/>
                </a:solidFill>
                <a:latin typeface="Aptos"/>
              </a:rPr>
              <a:t>rollback restaurou distribuição e ranking</a:t>
            </a:r>
            <a:endParaRPr b="0" lang="pt-BR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Rounded Rectangle 12"/>
          <p:cNvSpPr/>
          <p:nvPr/>
        </p:nvSpPr>
        <p:spPr>
          <a:xfrm>
            <a:off x="612720" y="2414160"/>
            <a:ext cx="7918200" cy="49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02" name="TextBox 13"/>
          <p:cNvSpPr/>
          <p:nvPr/>
        </p:nvSpPr>
        <p:spPr>
          <a:xfrm>
            <a:off x="804600" y="2560320"/>
            <a:ext cx="1261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044299"/>
                </a:solidFill>
                <a:latin typeface="Aptos"/>
              </a:rPr>
              <a:t>Latência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Box 14"/>
          <p:cNvSpPr/>
          <p:nvPr/>
        </p:nvSpPr>
        <p:spPr>
          <a:xfrm>
            <a:off x="2240280" y="256032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72433"/>
                </a:solidFill>
                <a:latin typeface="Aptos"/>
              </a:rPr>
              <a:t>Melhora parcial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Box 15"/>
          <p:cNvSpPr/>
          <p:nvPr/>
        </p:nvSpPr>
        <p:spPr>
          <a:xfrm>
            <a:off x="3950280" y="2560320"/>
            <a:ext cx="434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70" spc="-1" strike="noStrike">
                <a:solidFill>
                  <a:srgbClr val="34454f"/>
                </a:solidFill>
                <a:latin typeface="Aptos"/>
              </a:rPr>
              <a:t>p95 caiu, mas permaneceu acima do baseline</a:t>
            </a:r>
            <a:endParaRPr b="0" lang="pt-BR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Rounded Rectangle 16"/>
          <p:cNvSpPr/>
          <p:nvPr/>
        </p:nvSpPr>
        <p:spPr>
          <a:xfrm>
            <a:off x="612720" y="3035880"/>
            <a:ext cx="7918200" cy="49356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06" name="TextBox 17"/>
          <p:cNvSpPr/>
          <p:nvPr/>
        </p:nvSpPr>
        <p:spPr>
          <a:xfrm>
            <a:off x="804600" y="3182040"/>
            <a:ext cx="1261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f4872d"/>
                </a:solidFill>
                <a:latin typeface="Aptos"/>
              </a:rPr>
              <a:t>Outage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Box 18"/>
          <p:cNvSpPr/>
          <p:nvPr/>
        </p:nvSpPr>
        <p:spPr>
          <a:xfrm>
            <a:off x="2240280" y="318204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72433"/>
                </a:solidFill>
                <a:latin typeface="Aptos"/>
              </a:rPr>
              <a:t>Operação recuperada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Box 19"/>
          <p:cNvSpPr/>
          <p:nvPr/>
        </p:nvSpPr>
        <p:spPr>
          <a:xfrm>
            <a:off x="3950280" y="3182040"/>
            <a:ext cx="434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70" spc="-1" strike="noStrike">
                <a:solidFill>
                  <a:srgbClr val="34454f"/>
                </a:solidFill>
                <a:latin typeface="Aptos"/>
              </a:rPr>
              <a:t>disponibilidade voltou; personalização não</a:t>
            </a:r>
            <a:endParaRPr b="0" lang="pt-BR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Rounded Rectangle 20"/>
          <p:cNvSpPr/>
          <p:nvPr/>
        </p:nvSpPr>
        <p:spPr>
          <a:xfrm>
            <a:off x="612720" y="3657600"/>
            <a:ext cx="7918200" cy="49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10" name="TextBox 21"/>
          <p:cNvSpPr/>
          <p:nvPr/>
        </p:nvSpPr>
        <p:spPr>
          <a:xfrm>
            <a:off x="804600" y="3803760"/>
            <a:ext cx="1261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7b61ff"/>
                </a:solidFill>
                <a:latin typeface="Aptos"/>
              </a:rPr>
              <a:t>Push / nuke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Box 22"/>
          <p:cNvSpPr/>
          <p:nvPr/>
        </p:nvSpPr>
        <p:spPr>
          <a:xfrm>
            <a:off x="2240280" y="380376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50" spc="-1" strike="noStrike">
                <a:solidFill>
                  <a:srgbClr val="172433"/>
                </a:solidFill>
                <a:latin typeface="Aptos"/>
              </a:rPr>
              <a:t>Detecção e rollback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Box 23"/>
          <p:cNvSpPr/>
          <p:nvPr/>
        </p:nvSpPr>
        <p:spPr>
          <a:xfrm>
            <a:off x="3950280" y="3803760"/>
            <a:ext cx="434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870" spc="-1" strike="noStrike">
                <a:solidFill>
                  <a:srgbClr val="34454f"/>
                </a:solidFill>
                <a:latin typeface="Aptos"/>
              </a:rPr>
              <a:t>NDCG não mede diretamente o alvo atacado</a:t>
            </a:r>
            <a:endParaRPr b="0" lang="pt-BR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Rounded Rectangle 24"/>
          <p:cNvSpPr/>
          <p:nvPr/>
        </p:nvSpPr>
        <p:spPr>
          <a:xfrm>
            <a:off x="658440" y="4407480"/>
            <a:ext cx="7826760" cy="29232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edf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14" name="TextBox 25"/>
          <p:cNvSpPr/>
          <p:nvPr/>
        </p:nvSpPr>
        <p:spPr>
          <a:xfrm>
            <a:off x="841320" y="4480560"/>
            <a:ext cx="7461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920" spc="-1" strike="noStrike">
                <a:solidFill>
                  <a:srgbClr val="004a2a"/>
                </a:solidFill>
                <a:latin typeface="Aptos"/>
              </a:rPr>
              <a:t>Síntese: observabilidade reduz exposição e orienta respostas, mas a defesa e a métrica precisam corresponder ao mecanismo da falha.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TextBox 1"/>
          <p:cNvSpPr/>
          <p:nvPr/>
        </p:nvSpPr>
        <p:spPr>
          <a:xfrm>
            <a:off x="475560" y="228600"/>
            <a:ext cx="329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91bd00"/>
                </a:solidFill>
                <a:latin typeface="Aptos"/>
              </a:rPr>
              <a:t>CONCLUSÕES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Box 2"/>
          <p:cNvSpPr/>
          <p:nvPr/>
        </p:nvSpPr>
        <p:spPr>
          <a:xfrm>
            <a:off x="475560" y="438840"/>
            <a:ext cx="815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2150" spc="-1" strike="noStrike">
                <a:solidFill>
                  <a:srgbClr val="004a2a"/>
                </a:solidFill>
                <a:latin typeface="Aptos"/>
              </a:rPr>
              <a:t>Resultados alcançados e próximos refinamentos</a:t>
            </a:r>
            <a:endParaRPr b="0" lang="pt-BR" sz="2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17" name="Connector 3"/>
          <p:cNvCxnSpPr/>
          <p:nvPr/>
        </p:nvCxnSpPr>
        <p:spPr>
          <a:xfrm>
            <a:off x="475200" y="932400"/>
            <a:ext cx="8175240" cy="360"/>
          </a:xfrm>
          <a:prstGeom prst="straightConnector1">
            <a:avLst/>
          </a:prstGeom>
          <a:ln w="10160">
            <a:solidFill>
              <a:srgbClr val="d9e3e3"/>
            </a:solidFill>
            <a:round/>
          </a:ln>
        </p:spPr>
      </p:cxnSp>
      <p:sp>
        <p:nvSpPr>
          <p:cNvPr id="718" name="Oval 4"/>
          <p:cNvSpPr/>
          <p:nvPr/>
        </p:nvSpPr>
        <p:spPr>
          <a:xfrm>
            <a:off x="621720" y="1207080"/>
            <a:ext cx="438480" cy="43848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Aptos Display"/>
              </a:rPr>
              <a:t>1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Box 5"/>
          <p:cNvSpPr/>
          <p:nvPr/>
        </p:nvSpPr>
        <p:spPr>
          <a:xfrm>
            <a:off x="1261800" y="1207080"/>
            <a:ext cx="3401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004a2a"/>
                </a:solidFill>
                <a:latin typeface="Aptos"/>
              </a:rPr>
              <a:t>Protótipo integrado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TextBox 6"/>
          <p:cNvSpPr/>
          <p:nvPr/>
        </p:nvSpPr>
        <p:spPr>
          <a:xfrm>
            <a:off x="1261800" y="151776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60" spc="-1" strike="noStrike">
                <a:solidFill>
                  <a:srgbClr val="34454f"/>
                </a:solidFill>
                <a:latin typeface="Aptos"/>
              </a:rPr>
              <a:t>Sistema de recomendação, banco, interface, observabilidade e execução local/AWS.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Oval 7"/>
          <p:cNvSpPr/>
          <p:nvPr/>
        </p:nvSpPr>
        <p:spPr>
          <a:xfrm>
            <a:off x="621720" y="2121480"/>
            <a:ext cx="438480" cy="43848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Aptos Display"/>
              </a:rPr>
              <a:t>2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Box 8"/>
          <p:cNvSpPr/>
          <p:nvPr/>
        </p:nvSpPr>
        <p:spPr>
          <a:xfrm>
            <a:off x="1261800" y="2121480"/>
            <a:ext cx="3401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004a2a"/>
                </a:solidFill>
                <a:latin typeface="Aptos"/>
              </a:rPr>
              <a:t>Evidência experimental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Box 9"/>
          <p:cNvSpPr/>
          <p:nvPr/>
        </p:nvSpPr>
        <p:spPr>
          <a:xfrm>
            <a:off x="1261800" y="243216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60" spc="-1" strike="noStrike">
                <a:solidFill>
                  <a:srgbClr val="34454f"/>
                </a:solidFill>
                <a:latin typeface="Aptos"/>
              </a:rPr>
              <a:t>36 cenários pareados quantificam ranking, dados, latência e disponibilidade.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Oval 10"/>
          <p:cNvSpPr/>
          <p:nvPr/>
        </p:nvSpPr>
        <p:spPr>
          <a:xfrm>
            <a:off x="621720" y="3035880"/>
            <a:ext cx="438480" cy="43848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Aptos Display"/>
              </a:rPr>
              <a:t>3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Box 11"/>
          <p:cNvSpPr/>
          <p:nvPr/>
        </p:nvSpPr>
        <p:spPr>
          <a:xfrm>
            <a:off x="1261800" y="3035880"/>
            <a:ext cx="3401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1300" spc="-1" strike="noStrike">
                <a:solidFill>
                  <a:srgbClr val="004a2a"/>
                </a:solidFill>
                <a:latin typeface="Aptos"/>
              </a:rPr>
              <a:t>Conclusão científica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Box 12"/>
          <p:cNvSpPr/>
          <p:nvPr/>
        </p:nvSpPr>
        <p:spPr>
          <a:xfrm>
            <a:off x="1261800" y="334656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60" spc="-1" strike="noStrike">
                <a:solidFill>
                  <a:srgbClr val="34454f"/>
                </a:solidFill>
                <a:latin typeface="Aptos"/>
              </a:rPr>
              <a:t>A observabilidade melhora a recuperação, mas não substitui defesa específica nem métrica adequada.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Rounded Rectangle 13"/>
          <p:cNvSpPr/>
          <p:nvPr/>
        </p:nvSpPr>
        <p:spPr>
          <a:xfrm>
            <a:off x="4956120" y="1188720"/>
            <a:ext cx="3520080" cy="2761200"/>
          </a:xfrm>
          <a:prstGeom prst="roundRect">
            <a:avLst>
              <a:gd name="adj" fmla="val 16667"/>
            </a:avLst>
          </a:prstGeom>
          <a:solidFill>
            <a:srgbClr val="f4f7f7"/>
          </a:solidFill>
          <a:ln w="10160">
            <a:solidFill>
              <a:srgbClr val="d9e3e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28" name="TextBox 14"/>
          <p:cNvSpPr/>
          <p:nvPr/>
        </p:nvSpPr>
        <p:spPr>
          <a:xfrm>
            <a:off x="5230440" y="148140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pt-BR" sz="900" spc="-1" strike="noStrike">
                <a:solidFill>
                  <a:srgbClr val="006633"/>
                </a:solidFill>
                <a:latin typeface="Aptos"/>
              </a:rPr>
              <a:t>PRÓXIMOS REFINAMENTOS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Oval 15"/>
          <p:cNvSpPr/>
          <p:nvPr/>
        </p:nvSpPr>
        <p:spPr>
          <a:xfrm>
            <a:off x="5212080" y="193860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Box 16"/>
          <p:cNvSpPr/>
          <p:nvPr/>
        </p:nvSpPr>
        <p:spPr>
          <a:xfrm>
            <a:off x="5422320" y="1865520"/>
            <a:ext cx="264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60" spc="-1" strike="noStrike">
                <a:solidFill>
                  <a:srgbClr val="34454f"/>
                </a:solidFill>
                <a:latin typeface="Aptos"/>
              </a:rPr>
              <a:t>medir exposição e posição do item-alvo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Oval 17"/>
          <p:cNvSpPr/>
          <p:nvPr/>
        </p:nvSpPr>
        <p:spPr>
          <a:xfrm>
            <a:off x="5212080" y="228600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Box 18"/>
          <p:cNvSpPr/>
          <p:nvPr/>
        </p:nvSpPr>
        <p:spPr>
          <a:xfrm>
            <a:off x="5422320" y="2212920"/>
            <a:ext cx="264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60" spc="-1" strike="noStrike">
                <a:solidFill>
                  <a:srgbClr val="34454f"/>
                </a:solidFill>
                <a:latin typeface="Aptos"/>
              </a:rPr>
              <a:t>repetir seeds e calcular intervalos de confiança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Oval 19"/>
          <p:cNvSpPr/>
          <p:nvPr/>
        </p:nvSpPr>
        <p:spPr>
          <a:xfrm>
            <a:off x="5212080" y="263340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Box 20"/>
          <p:cNvSpPr/>
          <p:nvPr/>
        </p:nvSpPr>
        <p:spPr>
          <a:xfrm>
            <a:off x="5422320" y="2560320"/>
            <a:ext cx="264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60" spc="-1" strike="noStrike">
                <a:solidFill>
                  <a:srgbClr val="34454f"/>
                </a:solidFill>
                <a:latin typeface="Aptos"/>
              </a:rPr>
              <a:t>melhorar fallback preservando personalização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Oval 21"/>
          <p:cNvSpPr/>
          <p:nvPr/>
        </p:nvSpPr>
        <p:spPr>
          <a:xfrm>
            <a:off x="5212080" y="2980800"/>
            <a:ext cx="109440" cy="109440"/>
          </a:xfrm>
          <a:prstGeom prst="ellipse">
            <a:avLst/>
          </a:prstGeom>
          <a:solidFill>
            <a:srgbClr val="91b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Box 22"/>
          <p:cNvSpPr/>
          <p:nvPr/>
        </p:nvSpPr>
        <p:spPr>
          <a:xfrm>
            <a:off x="5422320" y="2907720"/>
            <a:ext cx="264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960" spc="-1" strike="noStrike">
                <a:solidFill>
                  <a:srgbClr val="34454f"/>
                </a:solidFill>
                <a:latin typeface="Aptos"/>
              </a:rPr>
              <a:t>completar correlação de logs e traces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Rounded Rectangle 23"/>
          <p:cNvSpPr/>
          <p:nvPr/>
        </p:nvSpPr>
        <p:spPr>
          <a:xfrm>
            <a:off x="713160" y="4187880"/>
            <a:ext cx="7698960" cy="347040"/>
          </a:xfrm>
          <a:prstGeom prst="roundRect">
            <a:avLst>
              <a:gd name="adj" fmla="val 16667"/>
            </a:avLst>
          </a:prstGeom>
          <a:solidFill>
            <a:srgbClr val="edf7e6"/>
          </a:solidFill>
          <a:ln w="10160">
            <a:solidFill>
              <a:srgbClr val="edf7e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38" name="TextBox 24"/>
          <p:cNvSpPr/>
          <p:nvPr/>
        </p:nvSpPr>
        <p:spPr>
          <a:xfrm>
            <a:off x="896040" y="4279320"/>
            <a:ext cx="7333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1000" spc="-1" strike="noStrike">
                <a:solidFill>
                  <a:srgbClr val="004a2a"/>
                </a:solidFill>
                <a:latin typeface="Aptos"/>
              </a:rPr>
              <a:t>O sistema não apenas recomenda: ele permite demonstrar quando, por que e até que ponto a qualidade se recupera.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TextBox 1"/>
          <p:cNvSpPr/>
          <p:nvPr/>
        </p:nvSpPr>
        <p:spPr>
          <a:xfrm>
            <a:off x="2880360" y="4041720"/>
            <a:ext cx="3382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2500" spc="-1" strike="noStrike">
                <a:solidFill>
                  <a:srgbClr val="ffffff"/>
                </a:solidFill>
                <a:latin typeface="Aptos"/>
              </a:rPr>
              <a:t>Obrigado!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TextBox 2"/>
          <p:cNvSpPr/>
          <p:nvPr/>
        </p:nvSpPr>
        <p:spPr>
          <a:xfrm>
            <a:off x="3429000" y="445320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1200" spc="-1" strike="noStrike">
                <a:solidFill>
                  <a:srgbClr val="91bd00"/>
                </a:solidFill>
                <a:latin typeface="Aptos"/>
              </a:rPr>
              <a:t>Perguntas?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UNOESTE">
  <a:themeElements>
    <a:clrScheme name="UNOESTE">
      <a:dk1>
        <a:srgbClr val="004c00"/>
      </a:dk1>
      <a:lt1>
        <a:srgbClr val="ffffff"/>
      </a:lt1>
      <a:dk2>
        <a:srgbClr val="006600"/>
      </a:dk2>
      <a:lt2>
        <a:srgbClr val="d8d8d8"/>
      </a:lt2>
      <a:accent1>
        <a:srgbClr val="9bbb59"/>
      </a:accent1>
      <a:accent2>
        <a:srgbClr val="92d050"/>
      </a:accent2>
      <a:accent3>
        <a:srgbClr val="00b050"/>
      </a:accent3>
      <a:accent4>
        <a:srgbClr val="f79646"/>
      </a:accent4>
      <a:accent5>
        <a:srgbClr val="ffc000"/>
      </a:accent5>
      <a:accent6>
        <a:srgbClr val="fac08f"/>
      </a:accent6>
      <a:hlink>
        <a:srgbClr val="ff9900"/>
      </a:hlink>
      <a:folHlink>
        <a:srgbClr val="ccff6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UNOESTE">
  <a:themeElements>
    <a:clrScheme name="UNOESTE">
      <a:dk1>
        <a:srgbClr val="004c00"/>
      </a:dk1>
      <a:lt1>
        <a:srgbClr val="ffffff"/>
      </a:lt1>
      <a:dk2>
        <a:srgbClr val="006600"/>
      </a:dk2>
      <a:lt2>
        <a:srgbClr val="d8d8d8"/>
      </a:lt2>
      <a:accent1>
        <a:srgbClr val="9bbb59"/>
      </a:accent1>
      <a:accent2>
        <a:srgbClr val="92d050"/>
      </a:accent2>
      <a:accent3>
        <a:srgbClr val="00b050"/>
      </a:accent3>
      <a:accent4>
        <a:srgbClr val="f79646"/>
      </a:accent4>
      <a:accent5>
        <a:srgbClr val="ffc000"/>
      </a:accent5>
      <a:accent6>
        <a:srgbClr val="fac08f"/>
      </a:accent6>
      <a:hlink>
        <a:srgbClr val="ff9900"/>
      </a:hlink>
      <a:folHlink>
        <a:srgbClr val="ccff6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UNOESTE">
  <a:themeElements>
    <a:clrScheme name="UNOESTE">
      <a:dk1>
        <a:srgbClr val="004c00"/>
      </a:dk1>
      <a:lt1>
        <a:srgbClr val="ffffff"/>
      </a:lt1>
      <a:dk2>
        <a:srgbClr val="006600"/>
      </a:dk2>
      <a:lt2>
        <a:srgbClr val="d8d8d8"/>
      </a:lt2>
      <a:accent1>
        <a:srgbClr val="9bbb59"/>
      </a:accent1>
      <a:accent2>
        <a:srgbClr val="92d050"/>
      </a:accent2>
      <a:accent3>
        <a:srgbClr val="00b050"/>
      </a:accent3>
      <a:accent4>
        <a:srgbClr val="f79646"/>
      </a:accent4>
      <a:accent5>
        <a:srgbClr val="ffc000"/>
      </a:accent5>
      <a:accent6>
        <a:srgbClr val="fac08f"/>
      </a:accent6>
      <a:hlink>
        <a:srgbClr val="ff9900"/>
      </a:hlink>
      <a:folHlink>
        <a:srgbClr val="ccff6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6600"/>
      </a:dk2>
      <a:lt2>
        <a:srgbClr val="d8d8d8"/>
      </a:lt2>
      <a:accent1>
        <a:srgbClr val="9bbb59"/>
      </a:accent1>
      <a:accent2>
        <a:srgbClr val="92d050"/>
      </a:accent2>
      <a:accent3>
        <a:srgbClr val="00b050"/>
      </a:accent3>
      <a:accent4>
        <a:srgbClr val="f79646"/>
      </a:accent4>
      <a:accent5>
        <a:srgbClr val="ffc000"/>
      </a:accent5>
      <a:accent6>
        <a:srgbClr val="fac08f"/>
      </a:accent6>
      <a:hlink>
        <a:srgbClr val="ff9900"/>
      </a:hlink>
      <a:folHlink>
        <a:srgbClr val="ccff6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</TotalTime>
  <Application>LibreOffice/7.4.7.2$Linux_X86_64 LibreOffice_project/40$Build-2</Application>
  <AppVersion>15.0000</AppVersion>
  <Words>7</Words>
  <Paragraphs>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2015-03-27T12:49:42Z</dcterms:created>
  <dc:creator>Arthur Guarizi Gasparim</dc:creator>
  <dc:description>Gerado a partir do anteprojeto e do padrão institucional fornecidos.</dc:description>
  <dc:language>pt-BR</dc:language>
  <cp:lastModifiedBy/>
  <dcterms:modified xsi:type="dcterms:W3CDTF">2026-10-19T02:00:40Z</dcterms:modified>
  <cp:revision>28</cp:revision>
  <dc:subject>Apresentação final de iniciação científica</dc:subject>
  <dc:title>Monitoramento de Qualidade dos Dados para Personalização de Recomendação de Produtos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na tela (16:9)</vt:lpwstr>
  </property>
  <property fmtid="{D5CDD505-2E9C-101B-9397-08002B2CF9AE}" pid="3" name="Slides">
    <vt:i4>3</vt:i4>
  </property>
</Properties>
</file>